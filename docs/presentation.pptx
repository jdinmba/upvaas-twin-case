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51435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7772400" cy="640080"/>
          </a:xfrm>
          <a:prstGeom prst="rect">
            <a:avLst/>
          </a:prstGeom>
          <a:noFill/>
        </p:spPr>
        <p:txBody>
          <a:bodyPr wrap="square" lIns="36576" rIns="36576" tIns="18288" bIns="18288">
            <a:spAutoFit/>
          </a:bodyPr>
          <a:lstStyle/>
          <a:p>
            <a:pPr algn="l">
              <a:spcAft>
                <a:spcPts val="200"/>
              </a:spcAft>
            </a:pPr>
            <a:r>
              <a:rPr sz="3400" b="1">
                <a:solidFill>
                  <a:srgbClr val="FFFFFF"/>
                </a:solidFill>
                <a:latin typeface="Aptos"/>
              </a:rPr>
              <a:t>UPVAAS-Twin</a:t>
            </a:r>
          </a:p>
        </p:txBody>
      </p:sp>
      <p:sp>
        <p:nvSpPr>
          <p:cNvPr id="5" name="TextBox 4"/>
          <p:cNvSpPr txBox="1"/>
          <p:nvPr/>
        </p:nvSpPr>
        <p:spPr>
          <a:xfrm>
            <a:off x="685800" y="2103120"/>
            <a:ext cx="7772400" cy="548640"/>
          </a:xfrm>
          <a:prstGeom prst="rect">
            <a:avLst/>
          </a:prstGeom>
          <a:noFill/>
        </p:spPr>
        <p:txBody>
          <a:bodyPr wrap="square" lIns="36576" rIns="36576" tIns="18288" bIns="18288">
            <a:spAutoFit/>
          </a:bodyPr>
          <a:lstStyle/>
          <a:p>
            <a:pPr algn="l">
              <a:spcAft>
                <a:spcPts val="200"/>
              </a:spcAft>
            </a:pPr>
            <a:r>
              <a:rPr sz="1400" b="0">
                <a:solidFill>
                  <a:srgbClr val="8FADD0"/>
                </a:solidFill>
                <a:latin typeface="Aptos"/>
              </a:rPr>
              <a:t>A festival-aware metabolic digital twin for Indians with type 2 diabetes</a:t>
            </a:r>
          </a:p>
        </p:txBody>
      </p:sp>
      <p:sp>
        <p:nvSpPr>
          <p:cNvPr id="6" name="Rectangle 5"/>
          <p:cNvSpPr/>
          <p:nvPr/>
        </p:nvSpPr>
        <p:spPr>
          <a:xfrm>
            <a:off x="685800" y="2788920"/>
            <a:ext cx="1463040" cy="25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971800"/>
            <a:ext cx="7772400" cy="457200"/>
          </a:xfrm>
          <a:prstGeom prst="rect">
            <a:avLst/>
          </a:prstGeom>
          <a:noFill/>
        </p:spPr>
        <p:txBody>
          <a:bodyPr wrap="square" lIns="36576" rIns="36576" tIns="18288" bIns="18288">
            <a:spAutoFit/>
          </a:bodyPr>
          <a:lstStyle/>
          <a:p>
            <a:pPr algn="l">
              <a:spcAft>
                <a:spcPts val="200"/>
              </a:spcAft>
            </a:pPr>
            <a:r>
              <a:rPr sz="900" b="0">
                <a:solidFill>
                  <a:srgbClr val="FFFFFF"/>
                </a:solidFill>
                <a:latin typeface="Aptos"/>
              </a:rPr>
              <a:t>Predicting hypoglycaemia and glucose spikes two hours ahead, and rehearsing a patient's</a:t>
            </a:r>
          </a:p>
          <a:p>
            <a:pPr algn="l">
              <a:spcAft>
                <a:spcPts val="200"/>
              </a:spcAft>
            </a:pPr>
            <a:r>
              <a:rPr sz="900" b="0">
                <a:solidFill>
                  <a:srgbClr val="FFFFFF"/>
                </a:solidFill>
                <a:latin typeface="Aptos"/>
              </a:rPr>
              <a:t>religious fast before the patient lives it.</a:t>
            </a:r>
          </a:p>
        </p:txBody>
      </p:sp>
      <p:sp>
        <p:nvSpPr>
          <p:cNvPr id="8" name="TextBox 7"/>
          <p:cNvSpPr txBox="1"/>
          <p:nvPr/>
        </p:nvSpPr>
        <p:spPr>
          <a:xfrm>
            <a:off x="685800" y="3977639"/>
            <a:ext cx="7772400" cy="201168"/>
          </a:xfrm>
          <a:prstGeom prst="rect">
            <a:avLst/>
          </a:prstGeom>
          <a:noFill/>
        </p:spPr>
        <p:txBody>
          <a:bodyPr wrap="square" lIns="36576" rIns="36576" tIns="18288" bIns="18288">
            <a:spAutoFit/>
          </a:bodyPr>
          <a:lstStyle/>
          <a:p>
            <a:pPr algn="l">
              <a:spcAft>
                <a:spcPts val="200"/>
              </a:spcAft>
            </a:pPr>
            <a:r>
              <a:rPr sz="800" b="0">
                <a:solidFill>
                  <a:srgbClr val="8FADD0"/>
                </a:solidFill>
                <a:latin typeface="Aptos"/>
              </a:rPr>
              <a:t>Happiest Health · Reimagining and Reforming Healthcare in India Summit 2026</a:t>
            </a:r>
          </a:p>
        </p:txBody>
      </p:sp>
      <p:sp>
        <p:nvSpPr>
          <p:cNvPr id="9" name="TextBox 8"/>
          <p:cNvSpPr txBox="1"/>
          <p:nvPr/>
        </p:nvSpPr>
        <p:spPr>
          <a:xfrm>
            <a:off x="685800" y="4206240"/>
            <a:ext cx="7772400" cy="201168"/>
          </a:xfrm>
          <a:prstGeom prst="rect">
            <a:avLst/>
          </a:prstGeom>
          <a:noFill/>
        </p:spPr>
        <p:txBody>
          <a:bodyPr wrap="square" lIns="36576" rIns="36576" tIns="18288" bIns="18288">
            <a:spAutoFit/>
          </a:bodyPr>
          <a:lstStyle/>
          <a:p>
            <a:pPr algn="l">
              <a:spcAft>
                <a:spcPts val="200"/>
              </a:spcAft>
            </a:pPr>
            <a:r>
              <a:rPr sz="800" b="0">
                <a:solidFill>
                  <a:srgbClr val="8FADD0"/>
                </a:solidFill>
                <a:latin typeface="Aptos"/>
              </a:rPr>
              <a:t>Digital Twin Challenge</a:t>
            </a:r>
          </a:p>
        </p:txBody>
      </p:sp>
      <p:sp>
        <p:nvSpPr>
          <p:cNvPr id="10" name="TextBox 9"/>
          <p:cNvSpPr txBox="1"/>
          <p:nvPr/>
        </p:nvSpPr>
        <p:spPr>
          <a:xfrm>
            <a:off x="685800" y="4498848"/>
            <a:ext cx="7772400" cy="201168"/>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Breakpoint Consulting · Symbiosis Institute of Management Studies,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Half of Indian T2D patients fast for religion, most take a drug that does not stop</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The dangerous combination is scheduled, so it can be predicted</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Problem</a:t>
            </a:r>
          </a:p>
        </p:txBody>
      </p:sp>
      <p:sp>
        <p:nvSpPr>
          <p:cNvPr id="6" name="Rectangle 5"/>
          <p:cNvSpPr/>
          <p:nvPr/>
        </p:nvSpPr>
        <p:spPr>
          <a:xfrm>
            <a:off x="137160"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8" name="TextBox 7"/>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2</a:t>
            </a:r>
          </a:p>
        </p:txBody>
      </p:sp>
      <p:sp>
        <p:nvSpPr>
          <p:cNvPr id="12" name="Rectangle 11"/>
          <p:cNvSpPr/>
          <p:nvPr/>
        </p:nvSpPr>
        <p:spPr>
          <a:xfrm>
            <a:off x="182880" y="804672"/>
            <a:ext cx="2788920"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 y="868680"/>
            <a:ext cx="2679191"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The scale</a:t>
            </a:r>
          </a:p>
        </p:txBody>
      </p:sp>
      <p:sp>
        <p:nvSpPr>
          <p:cNvPr id="14" name="TextBox 13"/>
          <p:cNvSpPr txBox="1"/>
          <p:nvPr/>
        </p:nvSpPr>
        <p:spPr>
          <a:xfrm>
            <a:off x="237744" y="1106424"/>
            <a:ext cx="2679191" cy="932688"/>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101 million adults with diabetes in India.</a:t>
            </a:r>
          </a:p>
          <a:p>
            <a:pPr algn="l">
              <a:spcAft>
                <a:spcPts val="300"/>
              </a:spcAft>
            </a:pPr>
            <a:r>
              <a:rPr sz="800" b="0">
                <a:solidFill>
                  <a:srgbClr val="262626"/>
                </a:solidFill>
                <a:latin typeface="Aptos"/>
              </a:rPr>
              <a:t>136 million more with prediabetes.</a:t>
            </a:r>
          </a:p>
          <a:p>
            <a:pPr algn="l">
              <a:spcAft>
                <a:spcPts val="300"/>
              </a:spcAft>
            </a:pPr>
            <a:r>
              <a:rPr sz="800" b="0">
                <a:solidFill>
                  <a:srgbClr val="262626"/>
                </a:solidFill>
                <a:latin typeface="Aptos"/>
              </a:rPr>
              <a:t>ICMR-INDIAB, Lancet Diab Endo 2023</a:t>
            </a:r>
          </a:p>
        </p:txBody>
      </p:sp>
      <p:sp>
        <p:nvSpPr>
          <p:cNvPr id="15" name="Rectangle 14"/>
          <p:cNvSpPr/>
          <p:nvPr/>
        </p:nvSpPr>
        <p:spPr>
          <a:xfrm>
            <a:off x="3127248" y="804672"/>
            <a:ext cx="2788920" cy="1298448"/>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82112" y="868680"/>
            <a:ext cx="2679191" cy="201168"/>
          </a:xfrm>
          <a:prstGeom prst="rect">
            <a:avLst/>
          </a:prstGeom>
          <a:noFill/>
        </p:spPr>
        <p:txBody>
          <a:bodyPr wrap="square" lIns="36576" rIns="36576" tIns="18288" bIns="18288">
            <a:spAutoFit/>
          </a:bodyPr>
          <a:lstStyle/>
          <a:p>
            <a:pPr algn="l">
              <a:spcAft>
                <a:spcPts val="200"/>
              </a:spcAft>
            </a:pPr>
            <a:r>
              <a:rPr sz="900" b="1">
                <a:solidFill>
                  <a:srgbClr val="C0392B"/>
                </a:solidFill>
                <a:latin typeface="Aptos"/>
              </a:rPr>
              <a:t>The drug</a:t>
            </a:r>
          </a:p>
        </p:txBody>
      </p:sp>
      <p:sp>
        <p:nvSpPr>
          <p:cNvPr id="17" name="TextBox 16"/>
          <p:cNvSpPr txBox="1"/>
          <p:nvPr/>
        </p:nvSpPr>
        <p:spPr>
          <a:xfrm>
            <a:off x="3182112" y="1106424"/>
            <a:ext cx="2679191" cy="932688"/>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57% of one North Indian clinic cohort take a sulfonylurea.</a:t>
            </a:r>
          </a:p>
          <a:p>
            <a:pPr algn="l">
              <a:spcAft>
                <a:spcPts val="300"/>
              </a:spcAft>
            </a:pPr>
            <a:r>
              <a:rPr sz="800" b="0">
                <a:solidFill>
                  <a:srgbClr val="262626"/>
                </a:solidFill>
                <a:latin typeface="Aptos"/>
              </a:rPr>
              <a:t>It keeps releasing insulin even when no food arrives.</a:t>
            </a:r>
          </a:p>
        </p:txBody>
      </p:sp>
      <p:sp>
        <p:nvSpPr>
          <p:cNvPr id="18" name="Rectangle 17"/>
          <p:cNvSpPr/>
          <p:nvPr/>
        </p:nvSpPr>
        <p:spPr>
          <a:xfrm>
            <a:off x="6071616" y="804672"/>
            <a:ext cx="2889504"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868680"/>
            <a:ext cx="2779776"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The behaviour</a:t>
            </a:r>
          </a:p>
        </p:txBody>
      </p:sp>
      <p:sp>
        <p:nvSpPr>
          <p:cNvPr id="20" name="TextBox 19"/>
          <p:cNvSpPr txBox="1"/>
          <p:nvPr/>
        </p:nvSpPr>
        <p:spPr>
          <a:xfrm>
            <a:off x="6126479" y="1106424"/>
            <a:ext cx="2779776" cy="932688"/>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49% had fasted for religion in the past year.</a:t>
            </a:r>
          </a:p>
          <a:p>
            <a:pPr algn="l">
              <a:spcAft>
                <a:spcPts val="300"/>
              </a:spcAft>
            </a:pPr>
            <a:r>
              <a:rPr sz="800" b="0">
                <a:solidFill>
                  <a:srgbClr val="262626"/>
                </a:solidFill>
                <a:latin typeface="Aptos"/>
              </a:rPr>
              <a:t>4% checked their glucose during the fast.</a:t>
            </a:r>
          </a:p>
          <a:p>
            <a:pPr algn="l">
              <a:spcAft>
                <a:spcPts val="300"/>
              </a:spcAft>
            </a:pPr>
            <a:r>
              <a:rPr sz="800" b="0">
                <a:solidFill>
                  <a:srgbClr val="262626"/>
                </a:solidFill>
                <a:latin typeface="Aptos"/>
              </a:rPr>
              <a:t>1.35% asked a doctor first.</a:t>
            </a:r>
          </a:p>
        </p:txBody>
      </p:sp>
      <p:sp>
        <p:nvSpPr>
          <p:cNvPr id="21" name="TextBox 20"/>
          <p:cNvSpPr txBox="1"/>
          <p:nvPr/>
        </p:nvSpPr>
        <p:spPr>
          <a:xfrm>
            <a:off x="182880" y="2267712"/>
            <a:ext cx="8778240" cy="237744"/>
          </a:xfrm>
          <a:prstGeom prst="rect">
            <a:avLst/>
          </a:prstGeom>
          <a:noFill/>
        </p:spPr>
        <p:txBody>
          <a:bodyPr wrap="square" lIns="36576" rIns="36576" tIns="18288" bIns="18288">
            <a:spAutoFit/>
          </a:bodyPr>
          <a:lstStyle/>
          <a:p>
            <a:pPr algn="l">
              <a:spcAft>
                <a:spcPts val="200"/>
              </a:spcAft>
            </a:pPr>
            <a:r>
              <a:rPr sz="1100" b="1">
                <a:solidFill>
                  <a:srgbClr val="1C4980"/>
                </a:solidFill>
                <a:latin typeface="Aptos"/>
              </a:rPr>
              <a:t>Navratri · Ekadashi · Karva Chauth (nirjala) · Ramadan roza</a:t>
            </a:r>
          </a:p>
        </p:txBody>
      </p:sp>
      <p:sp>
        <p:nvSpPr>
          <p:cNvPr id="22" name="Rectangle 21"/>
          <p:cNvSpPr/>
          <p:nvPr/>
        </p:nvSpPr>
        <p:spPr>
          <a:xfrm>
            <a:off x="182880" y="2578608"/>
            <a:ext cx="877824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2670048"/>
            <a:ext cx="8595360" cy="777240"/>
          </a:xfrm>
          <a:prstGeom prst="rect">
            <a:avLst/>
          </a:prstGeom>
          <a:noFill/>
        </p:spPr>
        <p:txBody>
          <a:bodyPr wrap="square" lIns="36576" rIns="36576" tIns="18288" bIns="18288">
            <a:spAutoFit/>
          </a:bodyPr>
          <a:lstStyle/>
          <a:p>
            <a:pPr algn="l">
              <a:spcAft>
                <a:spcPts val="400"/>
              </a:spcAft>
            </a:pPr>
            <a:r>
              <a:rPr sz="900" b="0">
                <a:solidFill>
                  <a:srgbClr val="262626"/>
                </a:solidFill>
                <a:latin typeface="Aptos"/>
              </a:rPr>
              <a:t>A morning glimepiride followed by a thirteen hour fast produces a hypoglycaemia that was predictable the day before. The festive thali that breaks the fast produces a spike that was equally predictable.</a:t>
            </a:r>
          </a:p>
          <a:p>
            <a:pPr algn="l">
              <a:spcAft>
                <a:spcPts val="400"/>
              </a:spcAft>
            </a:pPr>
            <a:r>
              <a:rPr sz="900" b="0">
                <a:solidFill>
                  <a:srgbClr val="262626"/>
                </a:solidFill>
                <a:latin typeface="Aptos"/>
              </a:rPr>
              <a:t>Existing digital twins treat those days as noise. They predict meal responses, assume the patient wears a CGM, and never look at the calendar.</a:t>
            </a:r>
          </a:p>
        </p:txBody>
      </p:sp>
      <p:sp>
        <p:nvSpPr>
          <p:cNvPr id="24" name="TextBox 23"/>
          <p:cNvSpPr txBox="1"/>
          <p:nvPr/>
        </p:nvSpPr>
        <p:spPr>
          <a:xfrm>
            <a:off x="182880" y="3675887"/>
            <a:ext cx="8778240" cy="219456"/>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What we predict</a:t>
            </a:r>
          </a:p>
        </p:txBody>
      </p:sp>
      <p:sp>
        <p:nvSpPr>
          <p:cNvPr id="25" name="Rectangle 24"/>
          <p:cNvSpPr/>
          <p:nvPr/>
        </p:nvSpPr>
        <p:spPr>
          <a:xfrm>
            <a:off x="182880" y="3913632"/>
            <a:ext cx="8778240" cy="246888"/>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9456" y="3954780"/>
            <a:ext cx="2670048" cy="246888"/>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Adverse event</a:t>
            </a:r>
          </a:p>
        </p:txBody>
      </p:sp>
      <p:sp>
        <p:nvSpPr>
          <p:cNvPr id="27" name="TextBox 26"/>
          <p:cNvSpPr txBox="1"/>
          <p:nvPr/>
        </p:nvSpPr>
        <p:spPr>
          <a:xfrm>
            <a:off x="2962656" y="3954780"/>
            <a:ext cx="2029967" cy="246888"/>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Threshold</a:t>
            </a:r>
          </a:p>
        </p:txBody>
      </p:sp>
      <p:sp>
        <p:nvSpPr>
          <p:cNvPr id="28" name="TextBox 27"/>
          <p:cNvSpPr txBox="1"/>
          <p:nvPr/>
        </p:nvSpPr>
        <p:spPr>
          <a:xfrm>
            <a:off x="5065776" y="3954780"/>
            <a:ext cx="1389888" cy="246888"/>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Horizon</a:t>
            </a:r>
          </a:p>
        </p:txBody>
      </p:sp>
      <p:sp>
        <p:nvSpPr>
          <p:cNvPr id="29" name="TextBox 28"/>
          <p:cNvSpPr txBox="1"/>
          <p:nvPr/>
        </p:nvSpPr>
        <p:spPr>
          <a:xfrm>
            <a:off x="6528816" y="3954780"/>
            <a:ext cx="2395728" cy="246888"/>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Who it matters for</a:t>
            </a:r>
          </a:p>
        </p:txBody>
      </p:sp>
      <p:sp>
        <p:nvSpPr>
          <p:cNvPr id="30" name="TextBox 29"/>
          <p:cNvSpPr txBox="1"/>
          <p:nvPr/>
        </p:nvSpPr>
        <p:spPr>
          <a:xfrm>
            <a:off x="219456" y="4201668"/>
            <a:ext cx="2670048" cy="246888"/>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Hypoglycaemia</a:t>
            </a:r>
          </a:p>
        </p:txBody>
      </p:sp>
      <p:sp>
        <p:nvSpPr>
          <p:cNvPr id="31" name="TextBox 30"/>
          <p:cNvSpPr txBox="1"/>
          <p:nvPr/>
        </p:nvSpPr>
        <p:spPr>
          <a:xfrm>
            <a:off x="2962656" y="4201668"/>
            <a:ext cx="2029967"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&lt; 70 mg/dL for 15 min</a:t>
            </a:r>
          </a:p>
        </p:txBody>
      </p:sp>
      <p:sp>
        <p:nvSpPr>
          <p:cNvPr id="32" name="TextBox 31"/>
          <p:cNvSpPr txBox="1"/>
          <p:nvPr/>
        </p:nvSpPr>
        <p:spPr>
          <a:xfrm>
            <a:off x="5065776" y="4201668"/>
            <a:ext cx="1389888"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2 hours ahead</a:t>
            </a:r>
          </a:p>
        </p:txBody>
      </p:sp>
      <p:sp>
        <p:nvSpPr>
          <p:cNvPr id="33" name="TextBox 32"/>
          <p:cNvSpPr txBox="1"/>
          <p:nvPr/>
        </p:nvSpPr>
        <p:spPr>
          <a:xfrm>
            <a:off x="6528816" y="4201668"/>
            <a:ext cx="2395728"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Sulfonylurea patients during a fast</a:t>
            </a:r>
          </a:p>
        </p:txBody>
      </p:sp>
      <p:sp>
        <p:nvSpPr>
          <p:cNvPr id="34" name="Rectangle 33"/>
          <p:cNvSpPr/>
          <p:nvPr/>
        </p:nvSpPr>
        <p:spPr>
          <a:xfrm>
            <a:off x="182880" y="4407408"/>
            <a:ext cx="8778240" cy="2468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9456" y="4448556"/>
            <a:ext cx="2670048" cy="246888"/>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Hyperglycaemia</a:t>
            </a:r>
          </a:p>
        </p:txBody>
      </p:sp>
      <p:sp>
        <p:nvSpPr>
          <p:cNvPr id="36" name="TextBox 35"/>
          <p:cNvSpPr txBox="1"/>
          <p:nvPr/>
        </p:nvSpPr>
        <p:spPr>
          <a:xfrm>
            <a:off x="2962656" y="4448556"/>
            <a:ext cx="2029967"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&gt; 250 mg/dL for 15 min</a:t>
            </a:r>
          </a:p>
        </p:txBody>
      </p:sp>
      <p:sp>
        <p:nvSpPr>
          <p:cNvPr id="37" name="TextBox 36"/>
          <p:cNvSpPr txBox="1"/>
          <p:nvPr/>
        </p:nvSpPr>
        <p:spPr>
          <a:xfrm>
            <a:off x="5065776" y="4448556"/>
            <a:ext cx="1389888"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2 hours ahead</a:t>
            </a:r>
          </a:p>
        </p:txBody>
      </p:sp>
      <p:sp>
        <p:nvSpPr>
          <p:cNvPr id="38" name="TextBox 37"/>
          <p:cNvSpPr txBox="1"/>
          <p:nvPr/>
        </p:nvSpPr>
        <p:spPr>
          <a:xfrm>
            <a:off x="6528816" y="4448556"/>
            <a:ext cx="2395728" cy="246888"/>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Everyone, after the fast breaks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Commercial twins answer a different question, and assume hardware most Indians lack</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Where UPVAAS-Twin sits against what already exists</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Problem</a:t>
            </a:r>
          </a:p>
        </p:txBody>
      </p:sp>
      <p:sp>
        <p:nvSpPr>
          <p:cNvPr id="6" name="Rectangle 5"/>
          <p:cNvSpPr/>
          <p:nvPr/>
        </p:nvSpPr>
        <p:spPr>
          <a:xfrm>
            <a:off x="137160"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8" name="TextBox 7"/>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3</a:t>
            </a:r>
          </a:p>
        </p:txBody>
      </p:sp>
      <p:sp>
        <p:nvSpPr>
          <p:cNvPr id="12" name="Rectangle 11"/>
          <p:cNvSpPr/>
          <p:nvPr/>
        </p:nvSpPr>
        <p:spPr>
          <a:xfrm>
            <a:off x="182880" y="841248"/>
            <a:ext cx="8778240" cy="324612"/>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882396"/>
            <a:ext cx="1252728" cy="324612"/>
          </a:xfrm>
          <a:prstGeom prst="rect">
            <a:avLst/>
          </a:prstGeom>
          <a:noFill/>
        </p:spPr>
        <p:txBody>
          <a:bodyPr wrap="square" lIns="36576" rIns="36576" tIns="18288" bIns="18288">
            <a:spAutoFit/>
          </a:bodyPr>
          <a:lstStyle/>
          <a:p>
            <a:pPr algn="l">
              <a:spcAft>
                <a:spcPts val="200"/>
              </a:spcAft>
            </a:pPr>
            <a:r>
              <a:rPr sz="750" b="1">
                <a:solidFill>
                  <a:srgbClr val="FFFFFF"/>
                </a:solidFill>
                <a:latin typeface="Aptos"/>
              </a:rPr>
              <a:t/>
            </a:r>
          </a:p>
        </p:txBody>
      </p:sp>
      <p:sp>
        <p:nvSpPr>
          <p:cNvPr id="14" name="TextBox 13"/>
          <p:cNvSpPr txBox="1"/>
          <p:nvPr/>
        </p:nvSpPr>
        <p:spPr>
          <a:xfrm>
            <a:off x="1545336" y="882396"/>
            <a:ext cx="1801367" cy="324612"/>
          </a:xfrm>
          <a:prstGeom prst="rect">
            <a:avLst/>
          </a:prstGeom>
          <a:noFill/>
        </p:spPr>
        <p:txBody>
          <a:bodyPr wrap="square" lIns="36576" rIns="36576" tIns="18288" bIns="18288">
            <a:spAutoFit/>
          </a:bodyPr>
          <a:lstStyle/>
          <a:p>
            <a:pPr algn="ctr">
              <a:spcAft>
                <a:spcPts val="200"/>
              </a:spcAft>
            </a:pPr>
            <a:r>
              <a:rPr sz="750" b="1">
                <a:solidFill>
                  <a:srgbClr val="FFFFFF"/>
                </a:solidFill>
                <a:latin typeface="Aptos"/>
              </a:rPr>
              <a:t>Twin Health / January AI</a:t>
            </a:r>
          </a:p>
        </p:txBody>
      </p:sp>
      <p:sp>
        <p:nvSpPr>
          <p:cNvPr id="15" name="TextBox 14"/>
          <p:cNvSpPr txBox="1"/>
          <p:nvPr/>
        </p:nvSpPr>
        <p:spPr>
          <a:xfrm>
            <a:off x="3419856" y="882396"/>
            <a:ext cx="2075688" cy="324612"/>
          </a:xfrm>
          <a:prstGeom prst="rect">
            <a:avLst/>
          </a:prstGeom>
          <a:noFill/>
        </p:spPr>
        <p:txBody>
          <a:bodyPr wrap="square" lIns="36576" rIns="36576" tIns="18288" bIns="18288">
            <a:spAutoFit/>
          </a:bodyPr>
          <a:lstStyle/>
          <a:p>
            <a:pPr algn="ctr">
              <a:spcAft>
                <a:spcPts val="200"/>
              </a:spcAft>
            </a:pPr>
            <a:r>
              <a:rPr sz="750" b="1">
                <a:solidFill>
                  <a:srgbClr val="FFFFFF"/>
                </a:solidFill>
                <a:latin typeface="Aptos"/>
              </a:rPr>
              <a:t>Academic hybrid twins</a:t>
            </a:r>
          </a:p>
        </p:txBody>
      </p:sp>
      <p:sp>
        <p:nvSpPr>
          <p:cNvPr id="16" name="TextBox 15"/>
          <p:cNvSpPr txBox="1"/>
          <p:nvPr/>
        </p:nvSpPr>
        <p:spPr>
          <a:xfrm>
            <a:off x="5568696" y="882396"/>
            <a:ext cx="3355848" cy="324612"/>
          </a:xfrm>
          <a:prstGeom prst="rect">
            <a:avLst/>
          </a:prstGeom>
          <a:noFill/>
        </p:spPr>
        <p:txBody>
          <a:bodyPr wrap="square" lIns="36576" rIns="36576" tIns="18288" bIns="18288">
            <a:spAutoFit/>
          </a:bodyPr>
          <a:lstStyle/>
          <a:p>
            <a:pPr algn="ctr">
              <a:spcAft>
                <a:spcPts val="200"/>
              </a:spcAft>
            </a:pPr>
            <a:r>
              <a:rPr sz="750" b="1">
                <a:solidFill>
                  <a:srgbClr val="FFFFFF"/>
                </a:solidFill>
                <a:latin typeface="Aptos"/>
              </a:rPr>
              <a:t>UPVAAS-Twin</a:t>
            </a:r>
          </a:p>
        </p:txBody>
      </p:sp>
      <p:sp>
        <p:nvSpPr>
          <p:cNvPr id="17" name="TextBox 16"/>
          <p:cNvSpPr txBox="1"/>
          <p:nvPr/>
        </p:nvSpPr>
        <p:spPr>
          <a:xfrm>
            <a:off x="219456" y="1207007"/>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Predicts</a:t>
            </a:r>
          </a:p>
        </p:txBody>
      </p:sp>
      <p:sp>
        <p:nvSpPr>
          <p:cNvPr id="18" name="TextBox 17"/>
          <p:cNvSpPr txBox="1"/>
          <p:nvPr/>
        </p:nvSpPr>
        <p:spPr>
          <a:xfrm>
            <a:off x="1545336" y="1207007"/>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food to glucose response</a:t>
            </a:r>
          </a:p>
        </p:txBody>
      </p:sp>
      <p:sp>
        <p:nvSpPr>
          <p:cNvPr id="19" name="TextBox 18"/>
          <p:cNvSpPr txBox="1"/>
          <p:nvPr/>
        </p:nvSpPr>
        <p:spPr>
          <a:xfrm>
            <a:off x="3419856" y="1207007"/>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glucose trajectories, mostly T1D</a:t>
            </a:r>
          </a:p>
        </p:txBody>
      </p:sp>
      <p:sp>
        <p:nvSpPr>
          <p:cNvPr id="20" name="TextBox 19"/>
          <p:cNvSpPr txBox="1"/>
          <p:nvPr/>
        </p:nvSpPr>
        <p:spPr>
          <a:xfrm>
            <a:off x="5568696" y="1207007"/>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adverse events 2 h ahead, plus what-if</a:t>
            </a:r>
          </a:p>
        </p:txBody>
      </p:sp>
      <p:sp>
        <p:nvSpPr>
          <p:cNvPr id="21" name="Rectangle 20"/>
          <p:cNvSpPr/>
          <p:nvPr/>
        </p:nvSpPr>
        <p:spPr>
          <a:xfrm>
            <a:off x="182880" y="1490472"/>
            <a:ext cx="8778240" cy="3246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9456" y="1531619"/>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Model</a:t>
            </a:r>
          </a:p>
        </p:txBody>
      </p:sp>
      <p:sp>
        <p:nvSpPr>
          <p:cNvPr id="23" name="TextBox 22"/>
          <p:cNvSpPr txBox="1"/>
          <p:nvPr/>
        </p:nvSpPr>
        <p:spPr>
          <a:xfrm>
            <a:off x="1545336" y="1531619"/>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gradient boosting / RF</a:t>
            </a:r>
          </a:p>
        </p:txBody>
      </p:sp>
      <p:sp>
        <p:nvSpPr>
          <p:cNvPr id="24" name="TextBox 23"/>
          <p:cNvSpPr txBox="1"/>
          <p:nvPr/>
        </p:nvSpPr>
        <p:spPr>
          <a:xfrm>
            <a:off x="3419856" y="1531619"/>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physics-constrained neural net</a:t>
            </a:r>
          </a:p>
        </p:txBody>
      </p:sp>
      <p:sp>
        <p:nvSpPr>
          <p:cNvPr id="25" name="TextBox 24"/>
          <p:cNvSpPr txBox="1"/>
          <p:nvPr/>
        </p:nvSpPr>
        <p:spPr>
          <a:xfrm>
            <a:off x="5568696" y="1531619"/>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mechanistic ODE + particle filter + calibrated GBM</a:t>
            </a:r>
          </a:p>
        </p:txBody>
      </p:sp>
      <p:sp>
        <p:nvSpPr>
          <p:cNvPr id="26" name="TextBox 25"/>
          <p:cNvSpPr txBox="1"/>
          <p:nvPr/>
        </p:nvSpPr>
        <p:spPr>
          <a:xfrm>
            <a:off x="219456" y="1856231"/>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Uncertainty</a:t>
            </a:r>
          </a:p>
        </p:txBody>
      </p:sp>
      <p:sp>
        <p:nvSpPr>
          <p:cNvPr id="27" name="TextBox 26"/>
          <p:cNvSpPr txBox="1"/>
          <p:nvPr/>
        </p:nvSpPr>
        <p:spPr>
          <a:xfrm>
            <a:off x="1545336" y="1856231"/>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not published</a:t>
            </a:r>
          </a:p>
        </p:txBody>
      </p:sp>
      <p:sp>
        <p:nvSpPr>
          <p:cNvPr id="28" name="TextBox 27"/>
          <p:cNvSpPr txBox="1"/>
          <p:nvPr/>
        </p:nvSpPr>
        <p:spPr>
          <a:xfrm>
            <a:off x="3419856" y="1856231"/>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sometimes, marginal only</a:t>
            </a:r>
          </a:p>
        </p:txBody>
      </p:sp>
      <p:sp>
        <p:nvSpPr>
          <p:cNvPr id="29" name="TextBox 28"/>
          <p:cNvSpPr txBox="1"/>
          <p:nvPr/>
        </p:nvSpPr>
        <p:spPr>
          <a:xfrm>
            <a:off x="5568696" y="1856231"/>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conformal, reported by glucose range</a:t>
            </a:r>
          </a:p>
        </p:txBody>
      </p:sp>
      <p:sp>
        <p:nvSpPr>
          <p:cNvPr id="30" name="Rectangle 29"/>
          <p:cNvSpPr/>
          <p:nvPr/>
        </p:nvSpPr>
        <p:spPr>
          <a:xfrm>
            <a:off x="182880" y="2139696"/>
            <a:ext cx="8778240" cy="3246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 y="2180844"/>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Needs a CGM?</a:t>
            </a:r>
          </a:p>
        </p:txBody>
      </p:sp>
      <p:sp>
        <p:nvSpPr>
          <p:cNvPr id="32" name="TextBox 31"/>
          <p:cNvSpPr txBox="1"/>
          <p:nvPr/>
        </p:nvSpPr>
        <p:spPr>
          <a:xfrm>
            <a:off x="1545336" y="2180844"/>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yes</a:t>
            </a:r>
          </a:p>
        </p:txBody>
      </p:sp>
      <p:sp>
        <p:nvSpPr>
          <p:cNvPr id="33" name="TextBox 32"/>
          <p:cNvSpPr txBox="1"/>
          <p:nvPr/>
        </p:nvSpPr>
        <p:spPr>
          <a:xfrm>
            <a:off x="3419856" y="2180844"/>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yes</a:t>
            </a:r>
          </a:p>
        </p:txBody>
      </p:sp>
      <p:sp>
        <p:nvSpPr>
          <p:cNvPr id="34" name="TextBox 33"/>
          <p:cNvSpPr txBox="1"/>
          <p:nvPr/>
        </p:nvSpPr>
        <p:spPr>
          <a:xfrm>
            <a:off x="5568696" y="2180844"/>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no, three sensor tiers evaluated</a:t>
            </a:r>
          </a:p>
        </p:txBody>
      </p:sp>
      <p:sp>
        <p:nvSpPr>
          <p:cNvPr id="35" name="TextBox 34"/>
          <p:cNvSpPr txBox="1"/>
          <p:nvPr/>
        </p:nvSpPr>
        <p:spPr>
          <a:xfrm>
            <a:off x="219456" y="2505456"/>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Validated against</a:t>
            </a:r>
          </a:p>
        </p:txBody>
      </p:sp>
      <p:sp>
        <p:nvSpPr>
          <p:cNvPr id="36" name="TextBox 35"/>
          <p:cNvSpPr txBox="1"/>
          <p:nvPr/>
        </p:nvSpPr>
        <p:spPr>
          <a:xfrm>
            <a:off x="1545336" y="2505456"/>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not published</a:t>
            </a:r>
          </a:p>
        </p:txBody>
      </p:sp>
      <p:sp>
        <p:nvSpPr>
          <p:cNvPr id="37" name="TextBox 36"/>
          <p:cNvSpPr txBox="1"/>
          <p:nvPr/>
        </p:nvSpPr>
        <p:spPr>
          <a:xfrm>
            <a:off x="3419856" y="2505456"/>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the same model family</a:t>
            </a:r>
          </a:p>
        </p:txBody>
      </p:sp>
      <p:sp>
        <p:nvSpPr>
          <p:cNvPr id="38" name="TextBox 37"/>
          <p:cNvSpPr txBox="1"/>
          <p:nvPr/>
        </p:nvSpPr>
        <p:spPr>
          <a:xfrm>
            <a:off x="5568696" y="2505456"/>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a structurally different body model</a:t>
            </a:r>
          </a:p>
        </p:txBody>
      </p:sp>
      <p:sp>
        <p:nvSpPr>
          <p:cNvPr id="39" name="Rectangle 38"/>
          <p:cNvSpPr/>
          <p:nvPr/>
        </p:nvSpPr>
        <p:spPr>
          <a:xfrm>
            <a:off x="182880" y="2788920"/>
            <a:ext cx="8778240" cy="3246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 y="2830068"/>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India specific</a:t>
            </a:r>
          </a:p>
        </p:txBody>
      </p:sp>
      <p:sp>
        <p:nvSpPr>
          <p:cNvPr id="41" name="TextBox 40"/>
          <p:cNvSpPr txBox="1"/>
          <p:nvPr/>
        </p:nvSpPr>
        <p:spPr>
          <a:xfrm>
            <a:off x="1545336" y="2830068"/>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food database</a:t>
            </a:r>
          </a:p>
        </p:txBody>
      </p:sp>
      <p:sp>
        <p:nvSpPr>
          <p:cNvPr id="42" name="TextBox 41"/>
          <p:cNvSpPr txBox="1"/>
          <p:nvPr/>
        </p:nvSpPr>
        <p:spPr>
          <a:xfrm>
            <a:off x="3419856" y="2830068"/>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no</a:t>
            </a:r>
          </a:p>
        </p:txBody>
      </p:sp>
      <p:sp>
        <p:nvSpPr>
          <p:cNvPr id="43" name="TextBox 42"/>
          <p:cNvSpPr txBox="1"/>
          <p:nvPr/>
        </p:nvSpPr>
        <p:spPr>
          <a:xfrm>
            <a:off x="5568696" y="2830068"/>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festival calendar, thin-fat prior, SU pharmacogenomics, ASHA workflow</a:t>
            </a:r>
          </a:p>
        </p:txBody>
      </p:sp>
      <p:sp>
        <p:nvSpPr>
          <p:cNvPr id="44" name="TextBox 43"/>
          <p:cNvSpPr txBox="1"/>
          <p:nvPr/>
        </p:nvSpPr>
        <p:spPr>
          <a:xfrm>
            <a:off x="219456" y="3154679"/>
            <a:ext cx="1252728" cy="324612"/>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Fairness audit</a:t>
            </a:r>
          </a:p>
        </p:txBody>
      </p:sp>
      <p:sp>
        <p:nvSpPr>
          <p:cNvPr id="45" name="TextBox 44"/>
          <p:cNvSpPr txBox="1"/>
          <p:nvPr/>
        </p:nvSpPr>
        <p:spPr>
          <a:xfrm>
            <a:off x="1545336" y="3154679"/>
            <a:ext cx="1801367"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no</a:t>
            </a:r>
          </a:p>
        </p:txBody>
      </p:sp>
      <p:sp>
        <p:nvSpPr>
          <p:cNvPr id="46" name="TextBox 45"/>
          <p:cNvSpPr txBox="1"/>
          <p:nvPr/>
        </p:nvSpPr>
        <p:spPr>
          <a:xfrm>
            <a:off x="3419856" y="3154679"/>
            <a:ext cx="207568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rarely</a:t>
            </a:r>
          </a:p>
        </p:txBody>
      </p:sp>
      <p:sp>
        <p:nvSpPr>
          <p:cNvPr id="47" name="TextBox 46"/>
          <p:cNvSpPr txBox="1"/>
          <p:nvPr/>
        </p:nvSpPr>
        <p:spPr>
          <a:xfrm>
            <a:off x="5568696" y="3154679"/>
            <a:ext cx="3355848" cy="324612"/>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yes, led by fasting tradition</a:t>
            </a:r>
          </a:p>
        </p:txBody>
      </p:sp>
      <p:sp>
        <p:nvSpPr>
          <p:cNvPr id="48" name="Rectangle 47"/>
          <p:cNvSpPr/>
          <p:nvPr/>
        </p:nvSpPr>
        <p:spPr>
          <a:xfrm>
            <a:off x="182880" y="4133087"/>
            <a:ext cx="8778240" cy="530352"/>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206240"/>
            <a:ext cx="8595360" cy="411480"/>
          </a:xfrm>
          <a:prstGeom prst="rect">
            <a:avLst/>
          </a:prstGeom>
          <a:noFill/>
        </p:spPr>
        <p:txBody>
          <a:bodyPr wrap="square" lIns="36576" rIns="36576" tIns="18288" bIns="18288">
            <a:spAutoFit/>
          </a:bodyPr>
          <a:lstStyle/>
          <a:p>
            <a:pPr algn="l">
              <a:spcAft>
                <a:spcPts val="200"/>
              </a:spcAft>
            </a:pPr>
            <a:r>
              <a:rPr sz="850" b="0">
                <a:solidFill>
                  <a:srgbClr val="1C4980"/>
                </a:solidFill>
                <a:latin typeface="Aptos"/>
              </a:rPr>
              <a:t>A 2026 review of 28 diabetes digital twin studies found one that addressed fairness and three with a human in the loop. None forecast adverse events.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Static data sets the prior, live data updates the posterior, the calendar says what is coming</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Five layers, from raw streams to a clinician's screen</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Solution</a:t>
            </a:r>
          </a:p>
        </p:txBody>
      </p:sp>
      <p:sp>
        <p:nvSpPr>
          <p:cNvPr id="7" name="Rectangle 6"/>
          <p:cNvSpPr/>
          <p:nvPr/>
        </p:nvSpPr>
        <p:spPr>
          <a:xfrm>
            <a:off x="1344168"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4</a:t>
            </a:r>
          </a:p>
        </p:txBody>
      </p:sp>
      <p:sp>
        <p:nvSpPr>
          <p:cNvPr id="12" name="Rectangle 11"/>
          <p:cNvSpPr/>
          <p:nvPr/>
        </p:nvSpPr>
        <p:spPr>
          <a:xfrm>
            <a:off x="182880" y="841248"/>
            <a:ext cx="1682496" cy="178308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 y="905256"/>
            <a:ext cx="1572768"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1  Data in</a:t>
            </a:r>
          </a:p>
        </p:txBody>
      </p:sp>
      <p:sp>
        <p:nvSpPr>
          <p:cNvPr id="14" name="TextBox 13"/>
          <p:cNvSpPr txBox="1"/>
          <p:nvPr/>
        </p:nvSpPr>
        <p:spPr>
          <a:xfrm>
            <a:off x="237744" y="1143000"/>
            <a:ext cx="1572768" cy="1417319"/>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India-localised synthetic EHR:</a:t>
            </a:r>
          </a:p>
          <a:p>
            <a:pPr algn="l">
              <a:spcAft>
                <a:spcPts val="300"/>
              </a:spcAft>
            </a:pPr>
            <a:r>
              <a:rPr sz="750" b="0">
                <a:solidFill>
                  <a:srgbClr val="262626"/>
                </a:solidFill>
                <a:latin typeface="Aptos"/>
              </a:rPr>
              <a:t>labs, meds, eGFR, CYP2C9, TCF7L2</a:t>
            </a:r>
          </a:p>
          <a:p>
            <a:pPr algn="l">
              <a:spcAft>
                <a:spcPts val="300"/>
              </a:spcAft>
            </a:pPr>
            <a:r>
              <a:rPr sz="750" b="0">
                <a:solidFill>
                  <a:srgbClr val="262626"/>
                </a:solidFill>
                <a:latin typeface="Aptos"/>
              </a:rPr>
              <a:t>CGM or 2 fingersticks a day</a:t>
            </a:r>
          </a:p>
          <a:p>
            <a:pPr algn="l">
              <a:spcAft>
                <a:spcPts val="300"/>
              </a:spcAft>
            </a:pPr>
            <a:r>
              <a:rPr sz="750" b="0">
                <a:solidFill>
                  <a:srgbClr val="262626"/>
                </a:solidFill>
                <a:latin typeface="Aptos"/>
              </a:rPr>
              <a:t>watch: HR, HRV, steps, sleep</a:t>
            </a:r>
          </a:p>
          <a:p>
            <a:pPr algn="l">
              <a:spcAft>
                <a:spcPts val="300"/>
              </a:spcAft>
            </a:pPr>
            <a:r>
              <a:rPr sz="750" b="0">
                <a:solidFill>
                  <a:srgbClr val="262626"/>
                </a:solidFill>
                <a:latin typeface="Aptos"/>
              </a:rPr>
              <a:t>festival calendar + PM2.5</a:t>
            </a:r>
          </a:p>
        </p:txBody>
      </p:sp>
      <p:sp>
        <p:nvSpPr>
          <p:cNvPr id="15" name="TextBox 14"/>
          <p:cNvSpPr txBox="1"/>
          <p:nvPr/>
        </p:nvSpPr>
        <p:spPr>
          <a:xfrm>
            <a:off x="1883664" y="1874519"/>
            <a:ext cx="128016"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16" name="Rectangle 15"/>
          <p:cNvSpPr/>
          <p:nvPr/>
        </p:nvSpPr>
        <p:spPr>
          <a:xfrm>
            <a:off x="1975104" y="841248"/>
            <a:ext cx="1682496" cy="178308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29968" y="905256"/>
            <a:ext cx="1572768"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2  Twin core</a:t>
            </a:r>
          </a:p>
        </p:txBody>
      </p:sp>
      <p:sp>
        <p:nvSpPr>
          <p:cNvPr id="18" name="TextBox 17"/>
          <p:cNvSpPr txBox="1"/>
          <p:nvPr/>
        </p:nvSpPr>
        <p:spPr>
          <a:xfrm>
            <a:off x="2029968" y="1143000"/>
            <a:ext cx="1572768" cy="1417319"/>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EHR to physiology prior (ridge)</a:t>
            </a:r>
          </a:p>
          <a:p>
            <a:pPr algn="l">
              <a:spcAft>
                <a:spcPts val="300"/>
              </a:spcAft>
            </a:pPr>
            <a:r>
              <a:rPr sz="750" b="0">
                <a:solidFill>
                  <a:srgbClr val="262626"/>
                </a:solidFill>
                <a:latin typeface="Aptos"/>
              </a:rPr>
              <a:t>SU-Bergman-Gut ODE</a:t>
            </a:r>
          </a:p>
          <a:p>
            <a:pPr algn="l">
              <a:spcAft>
                <a:spcPts val="300"/>
              </a:spcAft>
            </a:pPr>
            <a:r>
              <a:rPr sz="750" b="0">
                <a:solidFill>
                  <a:srgbClr val="262626"/>
                </a:solidFill>
                <a:latin typeface="Aptos"/>
              </a:rPr>
              <a:t>particle filter, 64 candidate</a:t>
            </a:r>
          </a:p>
          <a:p>
            <a:pPr algn="l">
              <a:spcAft>
                <a:spcPts val="300"/>
              </a:spcAft>
            </a:pPr>
            <a:r>
              <a:rPr sz="750" b="0">
                <a:solidFill>
                  <a:srgbClr val="262626"/>
                </a:solidFill>
                <a:latin typeface="Aptos"/>
              </a:rPr>
              <a:t>physiologies per patient</a:t>
            </a:r>
          </a:p>
          <a:p>
            <a:pPr algn="l">
              <a:spcAft>
                <a:spcPts val="300"/>
              </a:spcAft>
            </a:pPr>
            <a:r>
              <a:rPr sz="750" b="0">
                <a:solidFill>
                  <a:srgbClr val="262626"/>
                </a:solidFill>
                <a:latin typeface="Aptos"/>
              </a:rPr>
              <a:t>2 h forecast on the calendar plan</a:t>
            </a:r>
          </a:p>
        </p:txBody>
      </p:sp>
      <p:sp>
        <p:nvSpPr>
          <p:cNvPr id="19" name="TextBox 18"/>
          <p:cNvSpPr txBox="1"/>
          <p:nvPr/>
        </p:nvSpPr>
        <p:spPr>
          <a:xfrm>
            <a:off x="3675888" y="1874519"/>
            <a:ext cx="128016"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20" name="Rectangle 19"/>
          <p:cNvSpPr/>
          <p:nvPr/>
        </p:nvSpPr>
        <p:spPr>
          <a:xfrm>
            <a:off x="3767328" y="841248"/>
            <a:ext cx="1682496" cy="178308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22191" y="905256"/>
            <a:ext cx="1572768"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3  Intelligence</a:t>
            </a:r>
          </a:p>
        </p:txBody>
      </p:sp>
      <p:sp>
        <p:nvSpPr>
          <p:cNvPr id="22" name="TextBox 21"/>
          <p:cNvSpPr txBox="1"/>
          <p:nvPr/>
        </p:nvSpPr>
        <p:spPr>
          <a:xfrm>
            <a:off x="3822191" y="1143000"/>
            <a:ext cx="1572768" cy="1417319"/>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gradient boosting on fused</a:t>
            </a:r>
          </a:p>
          <a:p>
            <a:pPr algn="l">
              <a:spcAft>
                <a:spcPts val="300"/>
              </a:spcAft>
            </a:pPr>
            <a:r>
              <a:rPr sz="750" b="0">
                <a:solidFill>
                  <a:srgbClr val="262626"/>
                </a:solidFill>
                <a:latin typeface="Aptos"/>
              </a:rPr>
              <a:t>EHR + stream + calendar + twin</a:t>
            </a:r>
          </a:p>
          <a:p>
            <a:pPr algn="l">
              <a:spcAft>
                <a:spcPts val="300"/>
              </a:spcAft>
            </a:pPr>
            <a:r>
              <a:rPr sz="750" b="0">
                <a:solidFill>
                  <a:srgbClr val="262626"/>
                </a:solidFill>
                <a:latin typeface="Aptos"/>
              </a:rPr>
              <a:t>isotonic calibration</a:t>
            </a:r>
          </a:p>
          <a:p>
            <a:pPr algn="l">
              <a:spcAft>
                <a:spcPts val="300"/>
              </a:spcAft>
            </a:pPr>
            <a:r>
              <a:rPr sz="750" b="0">
                <a:solidFill>
                  <a:srgbClr val="262626"/>
                </a:solidFill>
                <a:latin typeface="Aptos"/>
              </a:rPr>
              <a:t>Mondrian conformal bands</a:t>
            </a:r>
          </a:p>
          <a:p>
            <a:pPr algn="l">
              <a:spcAft>
                <a:spcPts val="300"/>
              </a:spcAft>
            </a:pPr>
            <a:r>
              <a:rPr sz="750" b="0">
                <a:solidFill>
                  <a:srgbClr val="262626"/>
                </a:solidFill>
                <a:latin typeface="Aptos"/>
              </a:rPr>
              <a:t>counterfactual drivers</a:t>
            </a:r>
          </a:p>
        </p:txBody>
      </p:sp>
      <p:sp>
        <p:nvSpPr>
          <p:cNvPr id="23" name="TextBox 22"/>
          <p:cNvSpPr txBox="1"/>
          <p:nvPr/>
        </p:nvSpPr>
        <p:spPr>
          <a:xfrm>
            <a:off x="5468112" y="1874519"/>
            <a:ext cx="128016"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24" name="Rectangle 23"/>
          <p:cNvSpPr/>
          <p:nvPr/>
        </p:nvSpPr>
        <p:spPr>
          <a:xfrm>
            <a:off x="5559552" y="841248"/>
            <a:ext cx="16824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4416" y="905256"/>
            <a:ext cx="1572768" cy="201168"/>
          </a:xfrm>
          <a:prstGeom prst="rect">
            <a:avLst/>
          </a:prstGeom>
          <a:noFill/>
        </p:spPr>
        <p:txBody>
          <a:bodyPr wrap="square" lIns="36576" rIns="36576" tIns="18288" bIns="18288">
            <a:spAutoFit/>
          </a:bodyPr>
          <a:lstStyle/>
          <a:p>
            <a:pPr algn="l">
              <a:spcAft>
                <a:spcPts val="200"/>
              </a:spcAft>
            </a:pPr>
            <a:r>
              <a:rPr sz="900" b="1">
                <a:solidFill>
                  <a:srgbClr val="3A5F8F"/>
                </a:solidFill>
                <a:latin typeface="Aptos"/>
              </a:rPr>
              <a:t>4  Decision</a:t>
            </a:r>
          </a:p>
        </p:txBody>
      </p:sp>
      <p:sp>
        <p:nvSpPr>
          <p:cNvPr id="26" name="TextBox 25"/>
          <p:cNvSpPr txBox="1"/>
          <p:nvPr/>
        </p:nvSpPr>
        <p:spPr>
          <a:xfrm>
            <a:off x="5614416" y="1143000"/>
            <a:ext cx="1572768" cy="1417319"/>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clinician console, ranked roster</a:t>
            </a:r>
          </a:p>
          <a:p>
            <a:pPr algn="l">
              <a:spcAft>
                <a:spcPts val="300"/>
              </a:spcAft>
            </a:pPr>
            <a:r>
              <a:rPr sz="750" b="0">
                <a:solidFill>
                  <a:srgbClr val="262626"/>
                </a:solidFill>
                <a:latin typeface="Aptos"/>
              </a:rPr>
              <a:t>Vrat Rehearsal what-if</a:t>
            </a:r>
          </a:p>
          <a:p>
            <a:pPr algn="l">
              <a:spcAft>
                <a:spcPts val="300"/>
              </a:spcAft>
            </a:pPr>
            <a:r>
              <a:rPr sz="750" b="0">
                <a:solidFill>
                  <a:srgbClr val="262626"/>
                </a:solidFill>
                <a:latin typeface="Aptos"/>
              </a:rPr>
              <a:t>ASHA pre-festival recall list</a:t>
            </a:r>
          </a:p>
          <a:p>
            <a:pPr algn="l">
              <a:spcAft>
                <a:spcPts val="300"/>
              </a:spcAft>
            </a:pPr>
            <a:r>
              <a:rPr sz="750" b="0">
                <a:solidFill>
                  <a:srgbClr val="262626"/>
                </a:solidFill>
                <a:latin typeface="Aptos"/>
              </a:rPr>
              <a:t>FHIR R4 RiskAssessment</a:t>
            </a:r>
          </a:p>
        </p:txBody>
      </p:sp>
      <p:sp>
        <p:nvSpPr>
          <p:cNvPr id="27" name="TextBox 26"/>
          <p:cNvSpPr txBox="1"/>
          <p:nvPr/>
        </p:nvSpPr>
        <p:spPr>
          <a:xfrm>
            <a:off x="7260336" y="1874519"/>
            <a:ext cx="128016"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28" name="Rectangle 27"/>
          <p:cNvSpPr/>
          <p:nvPr/>
        </p:nvSpPr>
        <p:spPr>
          <a:xfrm>
            <a:off x="7351775" y="841248"/>
            <a:ext cx="16824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905256"/>
            <a:ext cx="1572768" cy="201168"/>
          </a:xfrm>
          <a:prstGeom prst="rect">
            <a:avLst/>
          </a:prstGeom>
          <a:noFill/>
        </p:spPr>
        <p:txBody>
          <a:bodyPr wrap="square" lIns="36576" rIns="36576" tIns="18288" bIns="18288">
            <a:spAutoFit/>
          </a:bodyPr>
          <a:lstStyle/>
          <a:p>
            <a:pPr algn="l">
              <a:spcAft>
                <a:spcPts val="200"/>
              </a:spcAft>
            </a:pPr>
            <a:r>
              <a:rPr sz="900" b="1">
                <a:solidFill>
                  <a:srgbClr val="3A5F8F"/>
                </a:solidFill>
                <a:latin typeface="Aptos"/>
              </a:rPr>
              <a:t>5  Governance</a:t>
            </a:r>
          </a:p>
        </p:txBody>
      </p:sp>
      <p:sp>
        <p:nvSpPr>
          <p:cNvPr id="30" name="TextBox 29"/>
          <p:cNvSpPr txBox="1"/>
          <p:nvPr/>
        </p:nvSpPr>
        <p:spPr>
          <a:xfrm>
            <a:off x="7406640" y="1143000"/>
            <a:ext cx="1572768" cy="1417319"/>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DPDP: consent ID, purpose limit</a:t>
            </a:r>
          </a:p>
          <a:p>
            <a:pPr algn="l">
              <a:spcAft>
                <a:spcPts val="300"/>
              </a:spcAft>
            </a:pPr>
            <a:r>
              <a:rPr sz="750" b="0">
                <a:solidFill>
                  <a:srgbClr val="262626"/>
                </a:solidFill>
                <a:latin typeface="Aptos"/>
              </a:rPr>
              <a:t>ABDM: HIE-CM consent artefact</a:t>
            </a:r>
          </a:p>
          <a:p>
            <a:pPr algn="l">
              <a:spcAft>
                <a:spcPts val="300"/>
              </a:spcAft>
            </a:pPr>
            <a:r>
              <a:rPr sz="750" b="0">
                <a:solidFill>
                  <a:srgbClr val="262626"/>
                </a:solidFill>
                <a:latin typeface="Aptos"/>
              </a:rPr>
              <a:t>CDSCO draft: informs a doctor,</a:t>
            </a:r>
          </a:p>
          <a:p>
            <a:pPr algn="l">
              <a:spcAft>
                <a:spcPts val="300"/>
              </a:spcAft>
            </a:pPr>
            <a:r>
              <a:rPr sz="750" b="0">
                <a:solidFill>
                  <a:srgbClr val="262626"/>
                </a:solidFill>
                <a:latin typeface="Aptos"/>
              </a:rPr>
              <a:t>likely Class B</a:t>
            </a:r>
          </a:p>
          <a:p>
            <a:pPr algn="l">
              <a:spcAft>
                <a:spcPts val="300"/>
              </a:spcAft>
            </a:pPr>
            <a:r>
              <a:rPr sz="750" b="0">
                <a:solidFill>
                  <a:srgbClr val="262626"/>
                </a:solidFill>
                <a:latin typeface="Aptos"/>
              </a:rPr>
              <a:t>ICMR: human in the loop</a:t>
            </a:r>
          </a:p>
        </p:txBody>
      </p:sp>
      <p:sp>
        <p:nvSpPr>
          <p:cNvPr id="31" name="Rectangle 30"/>
          <p:cNvSpPr/>
          <p:nvPr/>
        </p:nvSpPr>
        <p:spPr>
          <a:xfrm>
            <a:off x="182880" y="2834640"/>
            <a:ext cx="8778240" cy="1719072"/>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0896" y="2962656"/>
            <a:ext cx="8503920" cy="219456"/>
          </a:xfrm>
          <a:prstGeom prst="rect">
            <a:avLst/>
          </a:prstGeom>
          <a:noFill/>
        </p:spPr>
        <p:txBody>
          <a:bodyPr wrap="square" lIns="36576" rIns="36576" tIns="18288" bIns="18288">
            <a:spAutoFit/>
          </a:bodyPr>
          <a:lstStyle/>
          <a:p>
            <a:pPr algn="l">
              <a:spcAft>
                <a:spcPts val="200"/>
              </a:spcAft>
            </a:pPr>
            <a:r>
              <a:rPr sz="900" b="1">
                <a:solidFill>
                  <a:srgbClr val="FFFFFF"/>
                </a:solidFill>
                <a:latin typeface="Aptos"/>
              </a:rPr>
              <a:t>What makes it a twin rather than a classifier</a:t>
            </a:r>
          </a:p>
        </p:txBody>
      </p:sp>
      <p:sp>
        <p:nvSpPr>
          <p:cNvPr id="33" name="TextBox 32"/>
          <p:cNvSpPr txBox="1"/>
          <p:nvPr/>
        </p:nvSpPr>
        <p:spPr>
          <a:xfrm>
            <a:off x="310896" y="3255264"/>
            <a:ext cx="8503920" cy="1188720"/>
          </a:xfrm>
          <a:prstGeom prst="rect">
            <a:avLst/>
          </a:prstGeom>
          <a:noFill/>
        </p:spPr>
        <p:txBody>
          <a:bodyPr wrap="square" lIns="36576" rIns="36576" tIns="18288" bIns="18288">
            <a:spAutoFit/>
          </a:bodyPr>
          <a:lstStyle/>
          <a:p>
            <a:pPr algn="l">
              <a:spcAft>
                <a:spcPts val="400"/>
              </a:spcAft>
            </a:pPr>
            <a:r>
              <a:rPr sz="850" b="0">
                <a:solidFill>
                  <a:srgbClr val="FFFFFF"/>
                </a:solidFill>
                <a:latin typeface="Aptos"/>
              </a:rPr>
              <a:t>The particle filter keeps 64 candidate physiologies per patient and re-weights them on every glucose reading, so the model follows the patient instead of scoring them once.</a:t>
            </a:r>
          </a:p>
          <a:p>
            <a:pPr algn="l">
              <a:spcAft>
                <a:spcPts val="400"/>
              </a:spcAft>
            </a:pPr>
            <a:r>
              <a:rPr sz="850" b="0">
                <a:solidFill>
                  <a:srgbClr val="FFFFFF"/>
                </a:solidFill>
                <a:latin typeface="Aptos"/>
              </a:rPr>
              <a:t>Those same posterior particles are replayed forward under a changed plan. That is the Vrat Rehearsal: the doctor asks what happens if the glimepiride moves to the fast-breaking meal, and gets an answer before the fast.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The model knows why a fast plus a morning glimepiride is dangerous</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Mechanistic core, so every alert can be explained to the patient</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Solution</a:t>
            </a:r>
          </a:p>
        </p:txBody>
      </p:sp>
      <p:sp>
        <p:nvSpPr>
          <p:cNvPr id="7" name="Rectangle 6"/>
          <p:cNvSpPr/>
          <p:nvPr/>
        </p:nvSpPr>
        <p:spPr>
          <a:xfrm>
            <a:off x="1344168"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5</a:t>
            </a:r>
          </a:p>
        </p:txBody>
      </p:sp>
      <p:sp>
        <p:nvSpPr>
          <p:cNvPr id="12" name="Rectangle 11"/>
          <p:cNvSpPr/>
          <p:nvPr/>
        </p:nvSpPr>
        <p:spPr>
          <a:xfrm>
            <a:off x="182880" y="841248"/>
            <a:ext cx="4297680" cy="1874519"/>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 y="905256"/>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SU-Bergman-Gut model, per minute</a:t>
            </a:r>
          </a:p>
        </p:txBody>
      </p:sp>
      <p:sp>
        <p:nvSpPr>
          <p:cNvPr id="14" name="TextBox 13"/>
          <p:cNvSpPr txBox="1"/>
          <p:nvPr/>
        </p:nvSpPr>
        <p:spPr>
          <a:xfrm>
            <a:off x="237744" y="1143000"/>
            <a:ext cx="4187952" cy="15087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Bergman minimal model for glucose and remote insulin action.</a:t>
            </a:r>
          </a:p>
          <a:p>
            <a:pPr algn="l">
              <a:spcAft>
                <a:spcPts val="300"/>
              </a:spcAft>
            </a:pPr>
            <a:r>
              <a:rPr sz="800" b="0">
                <a:solidFill>
                  <a:srgbClr val="262626"/>
                </a:solidFill>
                <a:latin typeface="Aptos"/>
              </a:rPr>
              <a:t>Two-compartment gut, absorption set by the food's glycaemic index and fat.</a:t>
            </a:r>
          </a:p>
          <a:p>
            <a:pPr algn="l">
              <a:spcAft>
                <a:spcPts val="300"/>
              </a:spcAft>
            </a:pPr>
            <a:r>
              <a:rPr sz="800" b="0">
                <a:solidFill>
                  <a:srgbClr val="262626"/>
                </a:solidFill>
                <a:latin typeface="Aptos"/>
              </a:rPr>
              <a:t>Sulfonylurea PK/PD that keeps secreting insulin at low glucose.</a:t>
            </a:r>
          </a:p>
          <a:p>
            <a:pPr algn="l">
              <a:spcAft>
                <a:spcPts val="300"/>
              </a:spcAft>
            </a:pPr>
            <a:r>
              <a:rPr sz="800" b="0">
                <a:solidFill>
                  <a:srgbClr val="262626"/>
                </a:solidFill>
                <a:latin typeface="Aptos"/>
              </a:rPr>
              <a:t>Fasting clock: hepatic output falls after about 11 hours without food.</a:t>
            </a:r>
          </a:p>
          <a:p>
            <a:pPr algn="l">
              <a:spcAft>
                <a:spcPts val="300"/>
              </a:spcAft>
            </a:pPr>
            <a:r>
              <a:rPr sz="800" b="0">
                <a:solidFill>
                  <a:srgbClr val="262626"/>
                </a:solidFill>
                <a:latin typeface="Aptos"/>
              </a:rPr>
              <a:t>Counter-regulation blunted by autonomic neuropathy.</a:t>
            </a:r>
          </a:p>
          <a:p>
            <a:pPr algn="l">
              <a:spcAft>
                <a:spcPts val="300"/>
              </a:spcAft>
            </a:pPr>
            <a:r>
              <a:rPr sz="800" b="0">
                <a:solidFill>
                  <a:srgbClr val="262626"/>
                </a:solidFill>
                <a:latin typeface="Aptos"/>
              </a:rPr>
              <a:t>CYP2C9 genotype and eGFR lengthen the drug half-life prior.</a:t>
            </a:r>
          </a:p>
        </p:txBody>
      </p:sp>
      <p:sp>
        <p:nvSpPr>
          <p:cNvPr id="15" name="Rectangle 14"/>
          <p:cNvSpPr/>
          <p:nvPr/>
        </p:nvSpPr>
        <p:spPr>
          <a:xfrm>
            <a:off x="4663440" y="841248"/>
            <a:ext cx="4297680" cy="1874519"/>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8303" y="905256"/>
            <a:ext cx="4187952" cy="201168"/>
          </a:xfrm>
          <a:prstGeom prst="rect">
            <a:avLst/>
          </a:prstGeom>
          <a:noFill/>
        </p:spPr>
        <p:txBody>
          <a:bodyPr wrap="square" lIns="36576" rIns="36576" tIns="18288" bIns="18288">
            <a:spAutoFit/>
          </a:bodyPr>
          <a:lstStyle/>
          <a:p>
            <a:pPr algn="l">
              <a:spcAft>
                <a:spcPts val="200"/>
              </a:spcAft>
            </a:pPr>
            <a:r>
              <a:rPr sz="900" b="1">
                <a:solidFill>
                  <a:srgbClr val="C0392B"/>
                </a:solidFill>
                <a:latin typeface="Aptos"/>
              </a:rPr>
              <a:t>Why that combination harms people</a:t>
            </a:r>
          </a:p>
        </p:txBody>
      </p:sp>
      <p:sp>
        <p:nvSpPr>
          <p:cNvPr id="17" name="TextBox 16"/>
          <p:cNvSpPr txBox="1"/>
          <p:nvPr/>
        </p:nvSpPr>
        <p:spPr>
          <a:xfrm>
            <a:off x="4718303" y="1143000"/>
            <a:ext cx="4187952" cy="15087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The tablet is taken at 08:30 on a normal schedule.</a:t>
            </a:r>
          </a:p>
          <a:p>
            <a:pPr algn="l">
              <a:spcAft>
                <a:spcPts val="300"/>
              </a:spcAft>
            </a:pPr>
            <a:r>
              <a:rPr sz="800" b="0">
                <a:solidFill>
                  <a:srgbClr val="262626"/>
                </a:solidFill>
                <a:latin typeface="Aptos"/>
              </a:rPr>
              <a:t>No carbohydrate arrives for the next thirteen hours.</a:t>
            </a:r>
          </a:p>
          <a:p>
            <a:pPr algn="l">
              <a:spcAft>
                <a:spcPts val="300"/>
              </a:spcAft>
            </a:pPr>
            <a:r>
              <a:rPr sz="800" b="0">
                <a:solidFill>
                  <a:srgbClr val="262626"/>
                </a:solidFill>
                <a:latin typeface="Aptos"/>
              </a:rPr>
              <a:t>Insulin secretion continues anyway.</a:t>
            </a:r>
          </a:p>
          <a:p>
            <a:pPr algn="l">
              <a:spcAft>
                <a:spcPts val="300"/>
              </a:spcAft>
            </a:pPr>
            <a:r>
              <a:rPr sz="800" b="0">
                <a:solidFill>
                  <a:srgbClr val="262626"/>
                </a:solidFill>
                <a:latin typeface="Aptos"/>
              </a:rPr>
              <a:t>After eleven hours the liver has less glycogen to release.</a:t>
            </a:r>
          </a:p>
          <a:p>
            <a:pPr algn="l">
              <a:spcAft>
                <a:spcPts val="300"/>
              </a:spcAft>
            </a:pPr>
            <a:r>
              <a:rPr sz="800" b="0">
                <a:solidFill>
                  <a:srgbClr val="262626"/>
                </a:solidFill>
                <a:latin typeface="Aptos"/>
              </a:rPr>
              <a:t>In a patient with neuropathy the warning symptoms are blunted.</a:t>
            </a:r>
          </a:p>
          <a:p>
            <a:pPr algn="l">
              <a:spcAft>
                <a:spcPts val="300"/>
              </a:spcAft>
            </a:pPr>
            <a:r>
              <a:rPr sz="800" b="0">
                <a:solidFill>
                  <a:srgbClr val="262626"/>
                </a:solidFill>
                <a:latin typeface="Aptos"/>
              </a:rPr>
              <a:t>Glucose falls in the late afternoon, hours before moonrise.</a:t>
            </a:r>
          </a:p>
        </p:txBody>
      </p:sp>
      <p:sp>
        <p:nvSpPr>
          <p:cNvPr id="18" name="TextBox 17"/>
          <p:cNvSpPr txBox="1"/>
          <p:nvPr/>
        </p:nvSpPr>
        <p:spPr>
          <a:xfrm>
            <a:off x="182880" y="2852928"/>
            <a:ext cx="8778240" cy="219456"/>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The twin turns that mechanism into four things a doctor can act on</a:t>
            </a:r>
          </a:p>
        </p:txBody>
      </p:sp>
      <p:sp>
        <p:nvSpPr>
          <p:cNvPr id="19" name="Rectangle 18"/>
          <p:cNvSpPr/>
          <p:nvPr/>
        </p:nvSpPr>
        <p:spPr>
          <a:xfrm>
            <a:off x="182880" y="3108960"/>
            <a:ext cx="2121408" cy="1417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 y="3172968"/>
            <a:ext cx="2011679"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Risk now</a:t>
            </a:r>
          </a:p>
        </p:txBody>
      </p:sp>
      <p:sp>
        <p:nvSpPr>
          <p:cNvPr id="21" name="TextBox 20"/>
          <p:cNvSpPr txBox="1"/>
          <p:nvPr/>
        </p:nvSpPr>
        <p:spPr>
          <a:xfrm>
            <a:off x="237744" y="3410712"/>
            <a:ext cx="2011679" cy="10515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Calibrated probability of an event in the next two hours, with the drivers behind it.</a:t>
            </a:r>
          </a:p>
        </p:txBody>
      </p:sp>
      <p:sp>
        <p:nvSpPr>
          <p:cNvPr id="22" name="Rectangle 21"/>
          <p:cNvSpPr/>
          <p:nvPr/>
        </p:nvSpPr>
        <p:spPr>
          <a:xfrm>
            <a:off x="2395728" y="3108960"/>
            <a:ext cx="2121408" cy="1417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50592" y="3172968"/>
            <a:ext cx="2011679"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A virtual patient</a:t>
            </a:r>
          </a:p>
        </p:txBody>
      </p:sp>
      <p:sp>
        <p:nvSpPr>
          <p:cNvPr id="24" name="TextBox 23"/>
          <p:cNvSpPr txBox="1"/>
          <p:nvPr/>
        </p:nvSpPr>
        <p:spPr>
          <a:xfrm>
            <a:off x="2450592" y="3410712"/>
            <a:ext cx="2011679" cy="10515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Personalised insulin sensitivity, beta-cell gain, hepatic set-point and drug half-life, each next to its EHR-only prior.</a:t>
            </a:r>
          </a:p>
        </p:txBody>
      </p:sp>
      <p:sp>
        <p:nvSpPr>
          <p:cNvPr id="25" name="Rectangle 24"/>
          <p:cNvSpPr/>
          <p:nvPr/>
        </p:nvSpPr>
        <p:spPr>
          <a:xfrm>
            <a:off x="4608576" y="3108960"/>
            <a:ext cx="2121408" cy="1417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172968"/>
            <a:ext cx="2011679"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A rehearsal</a:t>
            </a:r>
          </a:p>
        </p:txBody>
      </p:sp>
      <p:sp>
        <p:nvSpPr>
          <p:cNvPr id="27" name="TextBox 26"/>
          <p:cNvSpPr txBox="1"/>
          <p:nvPr/>
        </p:nvSpPr>
        <p:spPr>
          <a:xfrm>
            <a:off x="4663440" y="3410712"/>
            <a:ext cx="2011679" cy="10515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Tomorrow's fast replayed under four drug plans before the patient lives it.</a:t>
            </a:r>
          </a:p>
        </p:txBody>
      </p:sp>
      <p:sp>
        <p:nvSpPr>
          <p:cNvPr id="28" name="Rectangle 27"/>
          <p:cNvSpPr/>
          <p:nvPr/>
        </p:nvSpPr>
        <p:spPr>
          <a:xfrm>
            <a:off x="6821424" y="3108960"/>
            <a:ext cx="2121408" cy="1417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76288" y="3172968"/>
            <a:ext cx="2011679"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A recall list</a:t>
            </a:r>
          </a:p>
        </p:txBody>
      </p:sp>
      <p:sp>
        <p:nvSpPr>
          <p:cNvPr id="30" name="TextBox 29"/>
          <p:cNvSpPr txBox="1"/>
          <p:nvPr/>
        </p:nvSpPr>
        <p:spPr>
          <a:xfrm>
            <a:off x="6876288" y="3410712"/>
            <a:ext cx="2011679" cy="105156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Every faster in the ward ranked before the festival, with language, ward and an action script.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The twin earns its keep where there is no CGM, which is most of India</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200 synthetic patients x 28 days, 5-fold patient-grouped cross-validation</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Results</a:t>
            </a:r>
          </a:p>
        </p:txBody>
      </p:sp>
      <p:sp>
        <p:nvSpPr>
          <p:cNvPr id="8" name="Rectangle 7"/>
          <p:cNvSpPr/>
          <p:nvPr/>
        </p:nvSpPr>
        <p:spPr>
          <a:xfrm>
            <a:off x="2551176"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6</a:t>
            </a:r>
          </a:p>
        </p:txBody>
      </p:sp>
      <p:sp>
        <p:nvSpPr>
          <p:cNvPr id="12" name="Rectangle 11"/>
          <p:cNvSpPr/>
          <p:nvPr/>
        </p:nvSpPr>
        <p:spPr>
          <a:xfrm>
            <a:off x="182880" y="822960"/>
            <a:ext cx="8778240" cy="102412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 y="877824"/>
            <a:ext cx="8503920"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Tier B: two fingersticks a day and a basic smartwatch. No CGM.</a:t>
            </a:r>
          </a:p>
        </p:txBody>
      </p:sp>
      <p:sp>
        <p:nvSpPr>
          <p:cNvPr id="14" name="TextBox 13"/>
          <p:cNvSpPr txBox="1"/>
          <p:nvPr/>
        </p:nvSpPr>
        <p:spPr>
          <a:xfrm>
            <a:off x="365760" y="1115568"/>
            <a:ext cx="2651760" cy="384048"/>
          </a:xfrm>
          <a:prstGeom prst="rect">
            <a:avLst/>
          </a:prstGeom>
          <a:noFill/>
        </p:spPr>
        <p:txBody>
          <a:bodyPr wrap="square" lIns="36576" rIns="36576" tIns="18288" bIns="18288">
            <a:spAutoFit/>
          </a:bodyPr>
          <a:lstStyle/>
          <a:p>
            <a:pPr algn="ctr">
              <a:spcAft>
                <a:spcPts val="200"/>
              </a:spcAft>
            </a:pPr>
            <a:r>
              <a:rPr sz="2200" b="1">
                <a:solidFill>
                  <a:srgbClr val="1C4980"/>
                </a:solidFill>
                <a:latin typeface="Aptos"/>
              </a:rPr>
              <a:t>0.08 → 0.13</a:t>
            </a:r>
          </a:p>
        </p:txBody>
      </p:sp>
      <p:sp>
        <p:nvSpPr>
          <p:cNvPr id="15" name="TextBox 14"/>
          <p:cNvSpPr txBox="1"/>
          <p:nvPr/>
        </p:nvSpPr>
        <p:spPr>
          <a:xfrm>
            <a:off x="365760" y="1499616"/>
            <a:ext cx="2651760" cy="219456"/>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hypoglycaemia AUPRC</a:t>
            </a:r>
          </a:p>
        </p:txBody>
      </p:sp>
      <p:sp>
        <p:nvSpPr>
          <p:cNvPr id="16" name="TextBox 15"/>
          <p:cNvSpPr txBox="1"/>
          <p:nvPr/>
        </p:nvSpPr>
        <p:spPr>
          <a:xfrm>
            <a:off x="365760" y="1700784"/>
            <a:ext cx="2651760" cy="182880"/>
          </a:xfrm>
          <a:prstGeom prst="rect">
            <a:avLst/>
          </a:prstGeom>
          <a:noFill/>
        </p:spPr>
        <p:txBody>
          <a:bodyPr wrap="square" lIns="36576" rIns="36576" tIns="18288" bIns="18288">
            <a:spAutoFit/>
          </a:bodyPr>
          <a:lstStyle/>
          <a:p>
            <a:pPr algn="ctr">
              <a:spcAft>
                <a:spcPts val="200"/>
              </a:spcAft>
            </a:pPr>
            <a:r>
              <a:rPr sz="700" b="0">
                <a:solidFill>
                  <a:srgbClr val="7F7F7F"/>
                </a:solidFill>
                <a:latin typeface="Aptos"/>
              </a:rPr>
              <a:t>1.6x by adding the twin</a:t>
            </a:r>
          </a:p>
        </p:txBody>
      </p:sp>
      <p:sp>
        <p:nvSpPr>
          <p:cNvPr id="17" name="TextBox 16"/>
          <p:cNvSpPr txBox="1"/>
          <p:nvPr/>
        </p:nvSpPr>
        <p:spPr>
          <a:xfrm>
            <a:off x="3246120" y="1115568"/>
            <a:ext cx="2651760" cy="384048"/>
          </a:xfrm>
          <a:prstGeom prst="rect">
            <a:avLst/>
          </a:prstGeom>
          <a:noFill/>
        </p:spPr>
        <p:txBody>
          <a:bodyPr wrap="square" lIns="36576" rIns="36576" tIns="18288" bIns="18288">
            <a:spAutoFit/>
          </a:bodyPr>
          <a:lstStyle/>
          <a:p>
            <a:pPr algn="ctr">
              <a:spcAft>
                <a:spcPts val="200"/>
              </a:spcAft>
            </a:pPr>
            <a:r>
              <a:rPr sz="2200" b="1">
                <a:solidFill>
                  <a:srgbClr val="0D8943"/>
                </a:solidFill>
                <a:latin typeface="Aptos"/>
              </a:rPr>
              <a:t>5.4 → 2.7</a:t>
            </a:r>
          </a:p>
        </p:txBody>
      </p:sp>
      <p:sp>
        <p:nvSpPr>
          <p:cNvPr id="18" name="TextBox 17"/>
          <p:cNvSpPr txBox="1"/>
          <p:nvPr/>
        </p:nvSpPr>
        <p:spPr>
          <a:xfrm>
            <a:off x="3246120" y="1499616"/>
            <a:ext cx="2651760" cy="219456"/>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false alarms per patient-day</a:t>
            </a:r>
          </a:p>
        </p:txBody>
      </p:sp>
      <p:sp>
        <p:nvSpPr>
          <p:cNvPr id="19" name="TextBox 18"/>
          <p:cNvSpPr txBox="1"/>
          <p:nvPr/>
        </p:nvSpPr>
        <p:spPr>
          <a:xfrm>
            <a:off x="3246120" y="1700784"/>
            <a:ext cx="2651760" cy="182880"/>
          </a:xfrm>
          <a:prstGeom prst="rect">
            <a:avLst/>
          </a:prstGeom>
          <a:noFill/>
        </p:spPr>
        <p:txBody>
          <a:bodyPr wrap="square" lIns="36576" rIns="36576" tIns="18288" bIns="18288">
            <a:spAutoFit/>
          </a:bodyPr>
          <a:lstStyle/>
          <a:p>
            <a:pPr algn="ctr">
              <a:spcAft>
                <a:spcPts val="200"/>
              </a:spcAft>
            </a:pPr>
            <a:r>
              <a:rPr sz="700" b="0">
                <a:solidFill>
                  <a:srgbClr val="7F7F7F"/>
                </a:solidFill>
                <a:latin typeface="Aptos"/>
              </a:rPr>
              <a:t>the twin filters as well as ranks</a:t>
            </a:r>
          </a:p>
        </p:txBody>
      </p:sp>
      <p:sp>
        <p:nvSpPr>
          <p:cNvPr id="20" name="TextBox 19"/>
          <p:cNvSpPr txBox="1"/>
          <p:nvPr/>
        </p:nvSpPr>
        <p:spPr>
          <a:xfrm>
            <a:off x="6126480" y="1115568"/>
            <a:ext cx="2651760" cy="384048"/>
          </a:xfrm>
          <a:prstGeom prst="rect">
            <a:avLst/>
          </a:prstGeom>
          <a:noFill/>
        </p:spPr>
        <p:txBody>
          <a:bodyPr wrap="square" lIns="36576" rIns="36576" tIns="18288" bIns="18288">
            <a:spAutoFit/>
          </a:bodyPr>
          <a:lstStyle/>
          <a:p>
            <a:pPr algn="ctr">
              <a:spcAft>
                <a:spcPts val="200"/>
              </a:spcAft>
            </a:pPr>
            <a:r>
              <a:rPr sz="2200" b="1">
                <a:solidFill>
                  <a:srgbClr val="C0392B"/>
                </a:solidFill>
                <a:latin typeface="Aptos"/>
              </a:rPr>
              <a:t>26%</a:t>
            </a:r>
          </a:p>
        </p:txBody>
      </p:sp>
      <p:sp>
        <p:nvSpPr>
          <p:cNvPr id="21" name="TextBox 20"/>
          <p:cNvSpPr txBox="1"/>
          <p:nvPr/>
        </p:nvSpPr>
        <p:spPr>
          <a:xfrm>
            <a:off x="6126480" y="1499616"/>
            <a:ext cx="2651760" cy="219456"/>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precision of a 20-name worklist</a:t>
            </a:r>
          </a:p>
        </p:txBody>
      </p:sp>
      <p:sp>
        <p:nvSpPr>
          <p:cNvPr id="22" name="TextBox 21"/>
          <p:cNvSpPr txBox="1"/>
          <p:nvPr/>
        </p:nvSpPr>
        <p:spPr>
          <a:xfrm>
            <a:off x="6126480" y="1700784"/>
            <a:ext cx="2651760" cy="182880"/>
          </a:xfrm>
          <a:prstGeom prst="rect">
            <a:avLst/>
          </a:prstGeom>
          <a:noFill/>
        </p:spPr>
        <p:txBody>
          <a:bodyPr wrap="square" lIns="36576" rIns="36576" tIns="18288" bIns="18288">
            <a:spAutoFit/>
          </a:bodyPr>
          <a:lstStyle/>
          <a:p>
            <a:pPr algn="ctr">
              <a:spcAft>
                <a:spcPts val="200"/>
              </a:spcAft>
            </a:pPr>
            <a:r>
              <a:rPr sz="700" b="0">
                <a:solidFill>
                  <a:srgbClr val="7F7F7F"/>
                </a:solidFill>
                <a:latin typeface="Aptos"/>
              </a:rPr>
              <a:t>against a 0.9% base rate</a:t>
            </a:r>
          </a:p>
        </p:txBody>
      </p:sp>
      <p:sp>
        <p:nvSpPr>
          <p:cNvPr id="23" name="TextBox 22"/>
          <p:cNvSpPr txBox="1"/>
          <p:nvPr/>
        </p:nvSpPr>
        <p:spPr>
          <a:xfrm>
            <a:off x="182880" y="1975104"/>
            <a:ext cx="8778240" cy="237744"/>
          </a:xfrm>
          <a:prstGeom prst="rect">
            <a:avLst/>
          </a:prstGeom>
          <a:noFill/>
        </p:spPr>
        <p:txBody>
          <a:bodyPr wrap="square" lIns="36576" rIns="36576" tIns="18288" bIns="18288">
            <a:spAutoFit/>
          </a:bodyPr>
          <a:lstStyle/>
          <a:p>
            <a:pPr algn="l">
              <a:spcAft>
                <a:spcPts val="200"/>
              </a:spcAft>
            </a:pPr>
            <a:r>
              <a:rPr sz="1000" b="1">
                <a:solidFill>
                  <a:srgbClr val="262626"/>
                </a:solidFill>
                <a:latin typeface="Aptos"/>
              </a:rPr>
              <a:t>Of the 20 patients the twin flags each morning, about 5 really do have an event within two hours.</a:t>
            </a:r>
          </a:p>
        </p:txBody>
      </p:sp>
      <p:sp>
        <p:nvSpPr>
          <p:cNvPr id="24" name="Rectangle 23"/>
          <p:cNvSpPr/>
          <p:nvPr/>
        </p:nvSpPr>
        <p:spPr>
          <a:xfrm>
            <a:off x="182880" y="2286000"/>
            <a:ext cx="8778240" cy="27432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 y="2327148"/>
            <a:ext cx="2212848" cy="274320"/>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Sensor tier</a:t>
            </a:r>
          </a:p>
        </p:txBody>
      </p:sp>
      <p:sp>
        <p:nvSpPr>
          <p:cNvPr id="26" name="TextBox 25"/>
          <p:cNvSpPr txBox="1"/>
          <p:nvPr/>
        </p:nvSpPr>
        <p:spPr>
          <a:xfrm>
            <a:off x="2505456" y="2327148"/>
            <a:ext cx="84124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AUROC</a:t>
            </a:r>
          </a:p>
        </p:txBody>
      </p:sp>
      <p:sp>
        <p:nvSpPr>
          <p:cNvPr id="27" name="TextBox 26"/>
          <p:cNvSpPr txBox="1"/>
          <p:nvPr/>
        </p:nvSpPr>
        <p:spPr>
          <a:xfrm>
            <a:off x="3419856" y="2327148"/>
            <a:ext cx="1664207"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AUPRC [95% CI]</a:t>
            </a:r>
          </a:p>
        </p:txBody>
      </p:sp>
      <p:sp>
        <p:nvSpPr>
          <p:cNvPr id="28" name="TextBox 27"/>
          <p:cNvSpPr txBox="1"/>
          <p:nvPr/>
        </p:nvSpPr>
        <p:spPr>
          <a:xfrm>
            <a:off x="5157216" y="2327148"/>
            <a:ext cx="111556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Without twin</a:t>
            </a:r>
          </a:p>
        </p:txBody>
      </p:sp>
      <p:sp>
        <p:nvSpPr>
          <p:cNvPr id="29" name="TextBox 28"/>
          <p:cNvSpPr txBox="1"/>
          <p:nvPr/>
        </p:nvSpPr>
        <p:spPr>
          <a:xfrm>
            <a:off x="6345936" y="2327148"/>
            <a:ext cx="65836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P@20</a:t>
            </a:r>
          </a:p>
        </p:txBody>
      </p:sp>
      <p:sp>
        <p:nvSpPr>
          <p:cNvPr id="30" name="TextBox 29"/>
          <p:cNvSpPr txBox="1"/>
          <p:nvPr/>
        </p:nvSpPr>
        <p:spPr>
          <a:xfrm>
            <a:off x="7077455" y="2327148"/>
            <a:ext cx="74980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Recall</a:t>
            </a:r>
          </a:p>
        </p:txBody>
      </p:sp>
      <p:sp>
        <p:nvSpPr>
          <p:cNvPr id="31" name="TextBox 30"/>
          <p:cNvSpPr txBox="1"/>
          <p:nvPr/>
        </p:nvSpPr>
        <p:spPr>
          <a:xfrm>
            <a:off x="7900415" y="2327148"/>
            <a:ext cx="1024127"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False alarms/day</a:t>
            </a:r>
          </a:p>
        </p:txBody>
      </p:sp>
      <p:sp>
        <p:nvSpPr>
          <p:cNvPr id="32" name="TextBox 31"/>
          <p:cNvSpPr txBox="1"/>
          <p:nvPr/>
        </p:nvSpPr>
        <p:spPr>
          <a:xfrm>
            <a:off x="219456" y="2601468"/>
            <a:ext cx="2212848"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A  CGM + watch</a:t>
            </a:r>
          </a:p>
        </p:txBody>
      </p:sp>
      <p:sp>
        <p:nvSpPr>
          <p:cNvPr id="33" name="TextBox 32"/>
          <p:cNvSpPr txBox="1"/>
          <p:nvPr/>
        </p:nvSpPr>
        <p:spPr>
          <a:xfrm>
            <a:off x="2505456" y="2601468"/>
            <a:ext cx="84124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0.959</a:t>
            </a:r>
          </a:p>
        </p:txBody>
      </p:sp>
      <p:sp>
        <p:nvSpPr>
          <p:cNvPr id="34" name="TextBox 33"/>
          <p:cNvSpPr txBox="1"/>
          <p:nvPr/>
        </p:nvSpPr>
        <p:spPr>
          <a:xfrm>
            <a:off x="3419856" y="2601468"/>
            <a:ext cx="166420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0.220 [0.10-0.34]</a:t>
            </a:r>
          </a:p>
        </p:txBody>
      </p:sp>
      <p:sp>
        <p:nvSpPr>
          <p:cNvPr id="35" name="TextBox 34"/>
          <p:cNvSpPr txBox="1"/>
          <p:nvPr/>
        </p:nvSpPr>
        <p:spPr>
          <a:xfrm>
            <a:off x="5157216" y="2601468"/>
            <a:ext cx="11155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0.171</a:t>
            </a:r>
          </a:p>
        </p:txBody>
      </p:sp>
      <p:sp>
        <p:nvSpPr>
          <p:cNvPr id="36" name="TextBox 35"/>
          <p:cNvSpPr txBox="1"/>
          <p:nvPr/>
        </p:nvSpPr>
        <p:spPr>
          <a:xfrm>
            <a:off x="6345936" y="2601468"/>
            <a:ext cx="6583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0.36</a:t>
            </a:r>
          </a:p>
        </p:txBody>
      </p:sp>
      <p:sp>
        <p:nvSpPr>
          <p:cNvPr id="37" name="TextBox 36"/>
          <p:cNvSpPr txBox="1"/>
          <p:nvPr/>
        </p:nvSpPr>
        <p:spPr>
          <a:xfrm>
            <a:off x="7077455" y="2601468"/>
            <a:ext cx="74980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56%</a:t>
            </a:r>
          </a:p>
        </p:txBody>
      </p:sp>
      <p:sp>
        <p:nvSpPr>
          <p:cNvPr id="38" name="TextBox 37"/>
          <p:cNvSpPr txBox="1"/>
          <p:nvPr/>
        </p:nvSpPr>
        <p:spPr>
          <a:xfrm>
            <a:off x="7900415" y="2601468"/>
            <a:ext cx="102412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1.00</a:t>
            </a:r>
          </a:p>
        </p:txBody>
      </p:sp>
      <p:sp>
        <p:nvSpPr>
          <p:cNvPr id="39" name="Rectangle 38"/>
          <p:cNvSpPr/>
          <p:nvPr/>
        </p:nvSpPr>
        <p:spPr>
          <a:xfrm>
            <a:off x="182880" y="2834639"/>
            <a:ext cx="8778240" cy="274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 y="2875787"/>
            <a:ext cx="2212848" cy="274320"/>
          </a:xfrm>
          <a:prstGeom prst="rect">
            <a:avLst/>
          </a:prstGeom>
          <a:noFill/>
        </p:spPr>
        <p:txBody>
          <a:bodyPr wrap="square" lIns="36576" rIns="36576" tIns="18288" bIns="18288">
            <a:spAutoFit/>
          </a:bodyPr>
          <a:lstStyle/>
          <a:p>
            <a:pPr algn="l">
              <a:spcAft>
                <a:spcPts val="200"/>
              </a:spcAft>
            </a:pPr>
            <a:r>
              <a:rPr sz="800" b="1">
                <a:solidFill>
                  <a:srgbClr val="262626"/>
                </a:solidFill>
                <a:latin typeface="Aptos"/>
              </a:rPr>
              <a:t>B  2 fingersticks + watch</a:t>
            </a:r>
          </a:p>
        </p:txBody>
      </p:sp>
      <p:sp>
        <p:nvSpPr>
          <p:cNvPr id="41" name="TextBox 40"/>
          <p:cNvSpPr txBox="1"/>
          <p:nvPr/>
        </p:nvSpPr>
        <p:spPr>
          <a:xfrm>
            <a:off x="2505456" y="2875787"/>
            <a:ext cx="841248"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0.911</a:t>
            </a:r>
          </a:p>
        </p:txBody>
      </p:sp>
      <p:sp>
        <p:nvSpPr>
          <p:cNvPr id="42" name="TextBox 41"/>
          <p:cNvSpPr txBox="1"/>
          <p:nvPr/>
        </p:nvSpPr>
        <p:spPr>
          <a:xfrm>
            <a:off x="3419856" y="2875787"/>
            <a:ext cx="1664207"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0.132 [0.05-0.23]</a:t>
            </a:r>
          </a:p>
        </p:txBody>
      </p:sp>
      <p:sp>
        <p:nvSpPr>
          <p:cNvPr id="43" name="TextBox 42"/>
          <p:cNvSpPr txBox="1"/>
          <p:nvPr/>
        </p:nvSpPr>
        <p:spPr>
          <a:xfrm>
            <a:off x="5157216" y="2875787"/>
            <a:ext cx="1115568"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0.080</a:t>
            </a:r>
          </a:p>
        </p:txBody>
      </p:sp>
      <p:sp>
        <p:nvSpPr>
          <p:cNvPr id="44" name="TextBox 43"/>
          <p:cNvSpPr txBox="1"/>
          <p:nvPr/>
        </p:nvSpPr>
        <p:spPr>
          <a:xfrm>
            <a:off x="6345936" y="2875787"/>
            <a:ext cx="658368"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0.26</a:t>
            </a:r>
          </a:p>
        </p:txBody>
      </p:sp>
      <p:sp>
        <p:nvSpPr>
          <p:cNvPr id="45" name="TextBox 44"/>
          <p:cNvSpPr txBox="1"/>
          <p:nvPr/>
        </p:nvSpPr>
        <p:spPr>
          <a:xfrm>
            <a:off x="7077455" y="2875787"/>
            <a:ext cx="749808"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58%</a:t>
            </a:r>
          </a:p>
        </p:txBody>
      </p:sp>
      <p:sp>
        <p:nvSpPr>
          <p:cNvPr id="46" name="TextBox 45"/>
          <p:cNvSpPr txBox="1"/>
          <p:nvPr/>
        </p:nvSpPr>
        <p:spPr>
          <a:xfrm>
            <a:off x="7900415" y="2875787"/>
            <a:ext cx="1024127"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2.69</a:t>
            </a:r>
          </a:p>
        </p:txBody>
      </p:sp>
      <p:sp>
        <p:nvSpPr>
          <p:cNvPr id="47" name="TextBox 46"/>
          <p:cNvSpPr txBox="1"/>
          <p:nvPr/>
        </p:nvSpPr>
        <p:spPr>
          <a:xfrm>
            <a:off x="219456" y="3150107"/>
            <a:ext cx="2212848"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C  EHR + phone only</a:t>
            </a:r>
          </a:p>
        </p:txBody>
      </p:sp>
      <p:sp>
        <p:nvSpPr>
          <p:cNvPr id="48" name="TextBox 47"/>
          <p:cNvSpPr txBox="1"/>
          <p:nvPr/>
        </p:nvSpPr>
        <p:spPr>
          <a:xfrm>
            <a:off x="2505456" y="3150107"/>
            <a:ext cx="84124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0.792</a:t>
            </a:r>
          </a:p>
        </p:txBody>
      </p:sp>
      <p:sp>
        <p:nvSpPr>
          <p:cNvPr id="49" name="TextBox 48"/>
          <p:cNvSpPr txBox="1"/>
          <p:nvPr/>
        </p:nvSpPr>
        <p:spPr>
          <a:xfrm>
            <a:off x="3419856" y="3150107"/>
            <a:ext cx="166420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0.071 [0.02-0.14]</a:t>
            </a:r>
          </a:p>
        </p:txBody>
      </p:sp>
      <p:sp>
        <p:nvSpPr>
          <p:cNvPr id="50" name="TextBox 49"/>
          <p:cNvSpPr txBox="1"/>
          <p:nvPr/>
        </p:nvSpPr>
        <p:spPr>
          <a:xfrm>
            <a:off x="5157216" y="3150107"/>
            <a:ext cx="11155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0.034</a:t>
            </a:r>
          </a:p>
        </p:txBody>
      </p:sp>
      <p:sp>
        <p:nvSpPr>
          <p:cNvPr id="51" name="TextBox 50"/>
          <p:cNvSpPr txBox="1"/>
          <p:nvPr/>
        </p:nvSpPr>
        <p:spPr>
          <a:xfrm>
            <a:off x="6345936" y="3150107"/>
            <a:ext cx="6583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0.26</a:t>
            </a:r>
          </a:p>
        </p:txBody>
      </p:sp>
      <p:sp>
        <p:nvSpPr>
          <p:cNvPr id="52" name="TextBox 51"/>
          <p:cNvSpPr txBox="1"/>
          <p:nvPr/>
        </p:nvSpPr>
        <p:spPr>
          <a:xfrm>
            <a:off x="7077455" y="3150107"/>
            <a:ext cx="74980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62%</a:t>
            </a:r>
          </a:p>
        </p:txBody>
      </p:sp>
      <p:sp>
        <p:nvSpPr>
          <p:cNvPr id="53" name="TextBox 52"/>
          <p:cNvSpPr txBox="1"/>
          <p:nvPr/>
        </p:nvSpPr>
        <p:spPr>
          <a:xfrm>
            <a:off x="7900415" y="3150107"/>
            <a:ext cx="102412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6.87</a:t>
            </a:r>
          </a:p>
        </p:txBody>
      </p:sp>
      <p:sp>
        <p:nvSpPr>
          <p:cNvPr id="54" name="Rectangle 53"/>
          <p:cNvSpPr/>
          <p:nvPr/>
        </p:nvSpPr>
        <p:spPr>
          <a:xfrm>
            <a:off x="182880" y="3474720"/>
            <a:ext cx="4297680" cy="111556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7744" y="3538727"/>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Forecasting, tier A</a:t>
            </a:r>
          </a:p>
        </p:txBody>
      </p:sp>
      <p:sp>
        <p:nvSpPr>
          <p:cNvPr id="56" name="TextBox 55"/>
          <p:cNvSpPr txBox="1"/>
          <p:nvPr/>
        </p:nvSpPr>
        <p:spPr>
          <a:xfrm>
            <a:off x="237744" y="3776472"/>
            <a:ext cx="4187952" cy="749808"/>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Twin RMSE 27 / 33 / 38 mg/dL at 30 / 60 / 120 min.</a:t>
            </a:r>
          </a:p>
          <a:p>
            <a:pPr algn="l">
              <a:spcAft>
                <a:spcPts val="300"/>
              </a:spcAft>
            </a:pPr>
            <a:r>
              <a:rPr sz="800" b="0">
                <a:solidFill>
                  <a:srgbClr val="262626"/>
                </a:solidFill>
                <a:latin typeface="Aptos"/>
              </a:rPr>
              <a:t>Persistence 29 / 44 / 55 mg/dL.</a:t>
            </a:r>
          </a:p>
          <a:p>
            <a:pPr algn="l">
              <a:spcAft>
                <a:spcPts val="300"/>
              </a:spcAft>
            </a:pPr>
            <a:r>
              <a:rPr sz="800" b="0">
                <a:solidFill>
                  <a:srgbClr val="262626"/>
                </a:solidFill>
                <a:latin typeface="Aptos"/>
              </a:rPr>
              <a:t>Clarke error grid zones A+B: 97.2%.</a:t>
            </a:r>
          </a:p>
        </p:txBody>
      </p:sp>
      <p:sp>
        <p:nvSpPr>
          <p:cNvPr id="57" name="Rectangle 56"/>
          <p:cNvSpPr/>
          <p:nvPr/>
        </p:nvSpPr>
        <p:spPr>
          <a:xfrm>
            <a:off x="4663440" y="3474720"/>
            <a:ext cx="429768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18303" y="3538727"/>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How it was scored</a:t>
            </a:r>
          </a:p>
        </p:txBody>
      </p:sp>
      <p:sp>
        <p:nvSpPr>
          <p:cNvPr id="59" name="TextBox 58"/>
          <p:cNvSpPr txBox="1"/>
          <p:nvPr/>
        </p:nvSpPr>
        <p:spPr>
          <a:xfrm>
            <a:off x="4718303" y="3776472"/>
            <a:ext cx="4187952" cy="749808"/>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Every patient scored by a model that never saw them, in the dashboard as well as the metrics.</a:t>
            </a:r>
          </a:p>
          <a:p>
            <a:pPr algn="l">
              <a:spcAft>
                <a:spcPts val="300"/>
              </a:spcAft>
            </a:pPr>
            <a:r>
              <a:rPr sz="800" b="0">
                <a:solidFill>
                  <a:srgbClr val="262626"/>
                </a:solidFill>
                <a:latin typeface="Aptos"/>
              </a:rPr>
              <a:t>Patient-clustered bootstrap intervals on every headline number.</a:t>
            </a:r>
          </a:p>
          <a:p>
            <a:pPr algn="l">
              <a:spcAft>
                <a:spcPts val="300"/>
              </a:spcAft>
            </a:pPr>
            <a:r>
              <a:rPr sz="800" b="0">
                <a:solidFill>
                  <a:srgbClr val="262626"/>
                </a:solidFill>
                <a:latin typeface="Aptos"/>
              </a:rPr>
              <a:t>Only 40 of 200 patients ever had a hypoglycaemic event, so the intervals are wide and we print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The doctor sees the risk, the reason, and the patient's own physiology</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Clinician console, built for a ten-minute OPD consultation</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Results</a:t>
            </a:r>
          </a:p>
        </p:txBody>
      </p:sp>
      <p:sp>
        <p:nvSpPr>
          <p:cNvPr id="8" name="Rectangle 7"/>
          <p:cNvSpPr/>
          <p:nvPr/>
        </p:nvSpPr>
        <p:spPr>
          <a:xfrm>
            <a:off x="2551176"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7</a:t>
            </a:r>
          </a:p>
        </p:txBody>
      </p:sp>
      <p:pic>
        <p:nvPicPr>
          <p:cNvPr id="12" name="Picture 11" descr="console.png"/>
          <p:cNvPicPr>
            <a:picLocks noChangeAspect="1"/>
          </p:cNvPicPr>
          <p:nvPr/>
        </p:nvPicPr>
        <p:blipFill>
          <a:blip r:embed="rId2"/>
          <a:stretch>
            <a:fillRect/>
          </a:stretch>
        </p:blipFill>
        <p:spPr>
          <a:xfrm>
            <a:off x="182880" y="841248"/>
            <a:ext cx="5715000" cy="3571875"/>
          </a:xfrm>
          <a:prstGeom prst="rect">
            <a:avLst/>
          </a:prstGeom>
          <a:ln w="9525">
            <a:solidFill>
              <a:srgbClr val="B9CBE0"/>
            </a:solidFill>
          </a:ln>
        </p:spPr>
      </p:pic>
      <p:sp>
        <p:nvSpPr>
          <p:cNvPr id="13" name="TextBox 12"/>
          <p:cNvSpPr txBox="1"/>
          <p:nvPr/>
        </p:nvSpPr>
        <p:spPr>
          <a:xfrm>
            <a:off x="182880" y="4489704"/>
            <a:ext cx="5715000" cy="182880"/>
          </a:xfrm>
          <a:prstGeom prst="rect">
            <a:avLst/>
          </a:prstGeom>
          <a:noFill/>
        </p:spPr>
        <p:txBody>
          <a:bodyPr wrap="square" lIns="36576" rIns="36576" tIns="18288" bIns="18288">
            <a:spAutoFit/>
          </a:bodyPr>
          <a:lstStyle/>
          <a:p>
            <a:pPr algn="l">
              <a:spcAft>
                <a:spcPts val="200"/>
              </a:spcAft>
            </a:pPr>
            <a:r>
              <a:rPr sz="700" b="0">
                <a:solidFill>
                  <a:srgbClr val="7F7F7F"/>
                </a:solidFill>
                <a:latin typeface="Aptos"/>
              </a:rPr>
              <a:t>Roster ranked by two-hour risk, with today's vrat type and a recalibrate flag</a:t>
            </a:r>
          </a:p>
        </p:txBody>
      </p:sp>
      <p:sp>
        <p:nvSpPr>
          <p:cNvPr id="14" name="Rectangle 13"/>
          <p:cNvSpPr/>
          <p:nvPr/>
        </p:nvSpPr>
        <p:spPr>
          <a:xfrm>
            <a:off x="6080760" y="841248"/>
            <a:ext cx="2880360" cy="1170432"/>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35624" y="905256"/>
            <a:ext cx="277063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Risk, with its drivers</a:t>
            </a:r>
          </a:p>
        </p:txBody>
      </p:sp>
      <p:sp>
        <p:nvSpPr>
          <p:cNvPr id="16" name="TextBox 15"/>
          <p:cNvSpPr txBox="1"/>
          <p:nvPr/>
        </p:nvSpPr>
        <p:spPr>
          <a:xfrm>
            <a:off x="6135624" y="1143000"/>
            <a:ext cx="2770632" cy="804672"/>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Calibrated probability and the alarm threshold.</a:t>
            </a:r>
          </a:p>
          <a:p>
            <a:pPr algn="l">
              <a:spcAft>
                <a:spcPts val="300"/>
              </a:spcAft>
            </a:pPr>
            <a:r>
              <a:rPr sz="750" b="0">
                <a:solidFill>
                  <a:srgbClr val="262626"/>
                </a:solidFill>
                <a:latin typeface="Aptos"/>
              </a:rPr>
              <a:t>Counterfactual attribution shows which feature group moved it.</a:t>
            </a:r>
          </a:p>
        </p:txBody>
      </p:sp>
      <p:sp>
        <p:nvSpPr>
          <p:cNvPr id="17" name="Rectangle 16"/>
          <p:cNvSpPr/>
          <p:nvPr/>
        </p:nvSpPr>
        <p:spPr>
          <a:xfrm>
            <a:off x="6080760" y="2084831"/>
            <a:ext cx="2880360" cy="1170432"/>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2148839"/>
            <a:ext cx="277063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The virtual patient</a:t>
            </a:r>
          </a:p>
        </p:txBody>
      </p:sp>
      <p:sp>
        <p:nvSpPr>
          <p:cNvPr id="19" name="TextBox 18"/>
          <p:cNvSpPr txBox="1"/>
          <p:nvPr/>
        </p:nvSpPr>
        <p:spPr>
          <a:xfrm>
            <a:off x="6135624" y="2386584"/>
            <a:ext cx="2770632" cy="804672"/>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Insulin sensitivity, beta-cell gain, hepatic set-point, drug half-life.</a:t>
            </a:r>
          </a:p>
          <a:p>
            <a:pPr algn="l">
              <a:spcAft>
                <a:spcPts val="300"/>
              </a:spcAft>
            </a:pPr>
            <a:r>
              <a:rPr sz="750" b="0">
                <a:solidFill>
                  <a:srgbClr val="262626"/>
                </a:solidFill>
                <a:latin typeface="Aptos"/>
              </a:rPr>
              <a:t>Each shown against its EHR-only prior, so the doctor sees what the data changed.</a:t>
            </a:r>
          </a:p>
        </p:txBody>
      </p:sp>
      <p:sp>
        <p:nvSpPr>
          <p:cNvPr id="20" name="Rectangle 19"/>
          <p:cNvSpPr/>
          <p:nvPr/>
        </p:nvSpPr>
        <p:spPr>
          <a:xfrm>
            <a:off x="6080760" y="3328416"/>
            <a:ext cx="2880360" cy="1124712"/>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35624" y="3392424"/>
            <a:ext cx="277063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Forecast band</a:t>
            </a:r>
          </a:p>
        </p:txBody>
      </p:sp>
      <p:sp>
        <p:nvSpPr>
          <p:cNvPr id="22" name="TextBox 21"/>
          <p:cNvSpPr txBox="1"/>
          <p:nvPr/>
        </p:nvSpPr>
        <p:spPr>
          <a:xfrm>
            <a:off x="6135624" y="3630168"/>
            <a:ext cx="2770632" cy="758952"/>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Mondrian conformal, so the band widens where the twin is least reliable.</a:t>
            </a:r>
          </a:p>
          <a:p>
            <a:pPr algn="l">
              <a:spcAft>
                <a:spcPts val="300"/>
              </a:spcAft>
            </a:pPr>
            <a:r>
              <a:rPr sz="750" b="0">
                <a:solidFill>
                  <a:srgbClr val="262626"/>
                </a:solidFill>
                <a:latin typeface="Aptos"/>
              </a:rPr>
              <a:t>A reveal toggle shows what actually happened, for teaching.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Moving the tablet to the fast-breaking meal takes this patient from 61% to 0%</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Vrat Rehearsal: a 36-hour counterfactual on the posterior particles</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Results</a:t>
            </a:r>
          </a:p>
        </p:txBody>
      </p:sp>
      <p:sp>
        <p:nvSpPr>
          <p:cNvPr id="8" name="Rectangle 7"/>
          <p:cNvSpPr/>
          <p:nvPr/>
        </p:nvSpPr>
        <p:spPr>
          <a:xfrm>
            <a:off x="2551176"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8</a:t>
            </a:r>
          </a:p>
        </p:txBody>
      </p:sp>
      <p:pic>
        <p:nvPicPr>
          <p:cNvPr id="12" name="Picture 11" descr="rehearsal.png"/>
          <p:cNvPicPr>
            <a:picLocks noChangeAspect="1"/>
          </p:cNvPicPr>
          <p:nvPr/>
        </p:nvPicPr>
        <p:blipFill>
          <a:blip r:embed="rId2"/>
          <a:stretch>
            <a:fillRect/>
          </a:stretch>
        </p:blipFill>
        <p:spPr>
          <a:xfrm>
            <a:off x="182880" y="841248"/>
            <a:ext cx="5715000" cy="2119384"/>
          </a:xfrm>
          <a:prstGeom prst="rect">
            <a:avLst/>
          </a:prstGeom>
          <a:ln w="9525">
            <a:solidFill>
              <a:srgbClr val="B9CBE0"/>
            </a:solidFill>
          </a:ln>
        </p:spPr>
      </p:pic>
      <p:sp>
        <p:nvSpPr>
          <p:cNvPr id="13" name="TextBox 12"/>
          <p:cNvSpPr txBox="1"/>
          <p:nvPr/>
        </p:nvSpPr>
        <p:spPr>
          <a:xfrm>
            <a:off x="182880" y="4169664"/>
            <a:ext cx="5715000" cy="182880"/>
          </a:xfrm>
          <a:prstGeom prst="rect">
            <a:avLst/>
          </a:prstGeom>
          <a:noFill/>
        </p:spPr>
        <p:txBody>
          <a:bodyPr wrap="square" lIns="36576" rIns="36576" tIns="18288" bIns="18288">
            <a:spAutoFit/>
          </a:bodyPr>
          <a:lstStyle/>
          <a:p>
            <a:pPr algn="l">
              <a:spcAft>
                <a:spcPts val="200"/>
              </a:spcAft>
            </a:pPr>
            <a:r>
              <a:rPr sz="700" b="0">
                <a:solidFill>
                  <a:srgbClr val="7F7F7F"/>
                </a:solidFill>
                <a:latin typeface="Aptos"/>
              </a:rPr>
              <a:t>Grey is the patient's usual habit, green is the proposed change</a:t>
            </a:r>
          </a:p>
        </p:txBody>
      </p:sp>
      <p:sp>
        <p:nvSpPr>
          <p:cNvPr id="14" name="Rectangle 13"/>
          <p:cNvSpPr/>
          <p:nvPr/>
        </p:nvSpPr>
        <p:spPr>
          <a:xfrm>
            <a:off x="6080760" y="841248"/>
            <a:ext cx="2880360" cy="160020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35624" y="905256"/>
            <a:ext cx="277063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What the doctor changes</a:t>
            </a:r>
          </a:p>
        </p:txBody>
      </p:sp>
      <p:sp>
        <p:nvSpPr>
          <p:cNvPr id="16" name="TextBox 15"/>
          <p:cNvSpPr txBox="1"/>
          <p:nvPr/>
        </p:nvSpPr>
        <p:spPr>
          <a:xfrm>
            <a:off x="6135624" y="1143000"/>
            <a:ext cx="2770632" cy="1234440"/>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Which fast tomorrow is: Karva Chauth, roza, Navratri phalahar or ek-samay.</a:t>
            </a:r>
          </a:p>
          <a:p>
            <a:pPr algn="l">
              <a:spcAft>
                <a:spcPts val="300"/>
              </a:spcAft>
            </a:pPr>
            <a:r>
              <a:rPr sz="750" b="0">
                <a:solidFill>
                  <a:srgbClr val="262626"/>
                </a:solidFill>
                <a:latin typeface="Aptos"/>
              </a:rPr>
              <a:t>Sulfonylurea: as usual, halved, skipped, or moved to the fast-breaking meal.</a:t>
            </a:r>
          </a:p>
          <a:p>
            <a:pPr algn="l">
              <a:spcAft>
                <a:spcPts val="300"/>
              </a:spcAft>
            </a:pPr>
            <a:r>
              <a:rPr sz="750" b="0">
                <a:solidFill>
                  <a:srgbClr val="262626"/>
                </a:solidFill>
                <a:latin typeface="Aptos"/>
              </a:rPr>
              <a:t>Basal insulin, a low-GI swap, a walk after iftar, garba at night.</a:t>
            </a:r>
          </a:p>
        </p:txBody>
      </p:sp>
      <p:sp>
        <p:nvSpPr>
          <p:cNvPr id="17" name="Rectangle 16"/>
          <p:cNvSpPr/>
          <p:nvPr/>
        </p:nvSpPr>
        <p:spPr>
          <a:xfrm>
            <a:off x="6080760" y="2514600"/>
            <a:ext cx="2880360" cy="11887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2578608"/>
            <a:ext cx="277063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What comes back</a:t>
            </a:r>
          </a:p>
        </p:txBody>
      </p:sp>
      <p:sp>
        <p:nvSpPr>
          <p:cNvPr id="19" name="TextBox 18"/>
          <p:cNvSpPr txBox="1"/>
          <p:nvPr/>
        </p:nvSpPr>
        <p:spPr>
          <a:xfrm>
            <a:off x="6135624" y="2816352"/>
            <a:ext cx="2770632" cy="822960"/>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P(hypo), P(severe), P(hyper) and the predicted nadir time.</a:t>
            </a:r>
          </a:p>
          <a:p>
            <a:pPr algn="l">
              <a:spcAft>
                <a:spcPts val="300"/>
              </a:spcAft>
            </a:pPr>
            <a:r>
              <a:rPr sz="750" b="0">
                <a:solidFill>
                  <a:srgbClr val="262626"/>
                </a:solidFill>
                <a:latin typeface="Aptos"/>
              </a:rPr>
              <a:t>Across all sulfonylurea-treated fasters, moving the dose lowers predicted hypoglycaemia from 28% to 10%.</a:t>
            </a:r>
          </a:p>
        </p:txBody>
      </p:sp>
      <p:sp>
        <p:nvSpPr>
          <p:cNvPr id="20" name="Rectangle 19"/>
          <p:cNvSpPr/>
          <p:nvPr/>
        </p:nvSpPr>
        <p:spPr>
          <a:xfrm>
            <a:off x="6080760" y="3776472"/>
            <a:ext cx="2880360" cy="676656"/>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0488" y="3840480"/>
            <a:ext cx="2697480" cy="566928"/>
          </a:xfrm>
          <a:prstGeom prst="rect">
            <a:avLst/>
          </a:prstGeom>
          <a:noFill/>
        </p:spPr>
        <p:txBody>
          <a:bodyPr wrap="square" lIns="36576" rIns="36576" tIns="18288" bIns="18288">
            <a:spAutoFit/>
          </a:bodyPr>
          <a:lstStyle/>
          <a:p>
            <a:pPr algn="l">
              <a:spcAft>
                <a:spcPts val="200"/>
              </a:spcAft>
            </a:pPr>
            <a:r>
              <a:rPr sz="700" b="0">
                <a:solidFill>
                  <a:srgbClr val="C0392B"/>
                </a:solidFill>
                <a:latin typeface="Aptos"/>
              </a:rPr>
              <a:t>Read as a ranking, not a calibrated probability. The rehearsal over-predicts how often a fast ends in hypoglycaemia.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We made the benchmark hard on purpose, and published the baseline that beats us</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A result you cannot break is a result you cannot trust</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8" name="TextBox 7"/>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Evidence</a:t>
            </a:r>
          </a:p>
        </p:txBody>
      </p:sp>
      <p:sp>
        <p:nvSpPr>
          <p:cNvPr id="9" name="Rectangle 8"/>
          <p:cNvSpPr/>
          <p:nvPr/>
        </p:nvSpPr>
        <p:spPr>
          <a:xfrm>
            <a:off x="3758184"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9</a:t>
            </a:r>
          </a:p>
        </p:txBody>
      </p:sp>
      <p:sp>
        <p:nvSpPr>
          <p:cNvPr id="12" name="Rectangle 11"/>
          <p:cNvSpPr/>
          <p:nvPr/>
        </p:nvSpPr>
        <p:spPr>
          <a:xfrm>
            <a:off x="182880" y="841248"/>
            <a:ext cx="4297680" cy="157276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 y="905256"/>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The virtual body is not the twin</a:t>
            </a:r>
          </a:p>
        </p:txBody>
      </p:sp>
      <p:sp>
        <p:nvSpPr>
          <p:cNvPr id="14" name="TextBox 13"/>
          <p:cNvSpPr txBox="1"/>
          <p:nvPr/>
        </p:nvSpPr>
        <p:spPr>
          <a:xfrm>
            <a:off x="237744" y="1143000"/>
            <a:ext cx="4187952" cy="1207007"/>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The body runs a different model: three-compartment gut, interstitial insulin delay, circadian insulin sensitivity, renal glucose excretion, an incretin term.</a:t>
            </a:r>
          </a:p>
          <a:p>
            <a:pPr algn="l">
              <a:spcAft>
                <a:spcPts val="300"/>
              </a:spcAft>
            </a:pPr>
            <a:r>
              <a:rPr sz="800" b="0">
                <a:solidFill>
                  <a:srgbClr val="262626"/>
                </a:solidFill>
                <a:latin typeface="Aptos"/>
              </a:rPr>
              <a:t>The twin has an equation for none of them, so the error we report includes model misspecification and not only parameter error.</a:t>
            </a:r>
          </a:p>
        </p:txBody>
      </p:sp>
      <p:sp>
        <p:nvSpPr>
          <p:cNvPr id="15" name="Rectangle 14"/>
          <p:cNvSpPr/>
          <p:nvPr/>
        </p:nvSpPr>
        <p:spPr>
          <a:xfrm>
            <a:off x="4663440" y="841248"/>
            <a:ext cx="4297680" cy="15727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8303" y="905256"/>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Eating is messy on purpose</a:t>
            </a:r>
          </a:p>
        </p:txBody>
      </p:sp>
      <p:sp>
        <p:nvSpPr>
          <p:cNvPr id="17" name="TextBox 16"/>
          <p:cNvSpPr txBox="1"/>
          <p:nvPr/>
        </p:nvSpPr>
        <p:spPr>
          <a:xfrm>
            <a:off x="4718303" y="1143000"/>
            <a:ext cx="4187952" cy="1207007"/>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Correlation between the festival meal plan and what was actually eaten: 0.55.</a:t>
            </a:r>
          </a:p>
          <a:p>
            <a:pPr algn="l">
              <a:spcAft>
                <a:spcPts val="300"/>
              </a:spcAft>
            </a:pPr>
            <a:r>
              <a:rPr sz="800" b="0">
                <a:solidFill>
                  <a:srgbClr val="262626"/>
                </a:solidFill>
                <a:latin typeface="Aptos"/>
              </a:rPr>
              <a:t>23% of food intake was never on the plan.</a:t>
            </a:r>
          </a:p>
          <a:p>
            <a:pPr algn="l">
              <a:spcAft>
                <a:spcPts val="300"/>
              </a:spcAft>
            </a:pPr>
            <a:r>
              <a:rPr sz="800" b="0">
                <a:solidFill>
                  <a:srgbClr val="262626"/>
                </a:solidFill>
                <a:latin typeface="Aptos"/>
              </a:rPr>
              <a:t>Wide meal-time jitter, skipped meals, unplanned snacks. The calendar is a prior, not an oracle.</a:t>
            </a:r>
          </a:p>
        </p:txBody>
      </p:sp>
      <p:sp>
        <p:nvSpPr>
          <p:cNvPr id="18" name="Rectangle 17"/>
          <p:cNvSpPr/>
          <p:nvPr/>
        </p:nvSpPr>
        <p:spPr>
          <a:xfrm>
            <a:off x="182880" y="2523744"/>
            <a:ext cx="8778240" cy="841248"/>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 y="2596896"/>
            <a:ext cx="8503920" cy="201168"/>
          </a:xfrm>
          <a:prstGeom prst="rect">
            <a:avLst/>
          </a:prstGeom>
          <a:noFill/>
        </p:spPr>
        <p:txBody>
          <a:bodyPr wrap="square" lIns="36576" rIns="36576" tIns="18288" bIns="18288">
            <a:spAutoFit/>
          </a:bodyPr>
          <a:lstStyle/>
          <a:p>
            <a:pPr algn="l">
              <a:spcAft>
                <a:spcPts val="200"/>
              </a:spcAft>
            </a:pPr>
            <a:r>
              <a:rPr sz="900" b="1">
                <a:solidFill>
                  <a:srgbClr val="C0392B"/>
                </a:solidFill>
                <a:latin typeface="Aptos"/>
              </a:rPr>
              <a:t>The baseline that keeps us honest</a:t>
            </a:r>
          </a:p>
        </p:txBody>
      </p:sp>
      <p:sp>
        <p:nvSpPr>
          <p:cNvPr id="20" name="TextBox 19"/>
          <p:cNvSpPr txBox="1"/>
          <p:nvPr/>
        </p:nvSpPr>
        <p:spPr>
          <a:xfrm>
            <a:off x="310896" y="2816352"/>
            <a:ext cx="8503920" cy="50292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Four features: planned carbohydrate in the next two hours, HbA1c, and time of day. No glucose reading, no wearable, no twin. It reaches hyperglycaemia AUPRC 0.30 against 0.60 for the full tier-A model.</a:t>
            </a:r>
          </a:p>
          <a:p>
            <a:pPr algn="l">
              <a:spcAft>
                <a:spcPts val="300"/>
              </a:spcAft>
            </a:pPr>
            <a:r>
              <a:rPr sz="800" b="0">
                <a:solidFill>
                  <a:srgbClr val="262626"/>
                </a:solidFill>
                <a:latin typeface="Aptos"/>
              </a:rPr>
              <a:t>We publish it so a reader can see how much of the task is physiology and how much is a meal timetable.</a:t>
            </a:r>
          </a:p>
        </p:txBody>
      </p:sp>
      <p:sp>
        <p:nvSpPr>
          <p:cNvPr id="21" name="Rectangle 20"/>
          <p:cNvSpPr/>
          <p:nvPr/>
        </p:nvSpPr>
        <p:spPr>
          <a:xfrm>
            <a:off x="182880" y="3493008"/>
            <a:ext cx="8778240" cy="233172"/>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9456" y="3534156"/>
            <a:ext cx="6601968" cy="233172"/>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Null results we report rather than bury</a:t>
            </a:r>
          </a:p>
        </p:txBody>
      </p:sp>
      <p:sp>
        <p:nvSpPr>
          <p:cNvPr id="23" name="TextBox 22"/>
          <p:cNvSpPr txBox="1"/>
          <p:nvPr/>
        </p:nvSpPr>
        <p:spPr>
          <a:xfrm>
            <a:off x="6894576" y="3534156"/>
            <a:ext cx="2029967" cy="233172"/>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Number</a:t>
            </a:r>
          </a:p>
        </p:txBody>
      </p:sp>
      <p:sp>
        <p:nvSpPr>
          <p:cNvPr id="24" name="TextBox 23"/>
          <p:cNvSpPr txBox="1"/>
          <p:nvPr/>
        </p:nvSpPr>
        <p:spPr>
          <a:xfrm>
            <a:off x="219456" y="3767328"/>
            <a:ext cx="6601968" cy="23317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The festival calendar as model features adds nothing</a:t>
            </a:r>
          </a:p>
        </p:txBody>
      </p:sp>
      <p:sp>
        <p:nvSpPr>
          <p:cNvPr id="25" name="TextBox 24"/>
          <p:cNvSpPr txBox="1"/>
          <p:nvPr/>
        </p:nvSpPr>
        <p:spPr>
          <a:xfrm>
            <a:off x="6894576" y="3767328"/>
            <a:ext cx="2029967" cy="23317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0.218 vs 0.220</a:t>
            </a:r>
          </a:p>
        </p:txBody>
      </p:sp>
      <p:sp>
        <p:nvSpPr>
          <p:cNvPr id="26" name="Rectangle 25"/>
          <p:cNvSpPr/>
          <p:nvPr/>
        </p:nvSpPr>
        <p:spPr>
          <a:xfrm>
            <a:off x="182880" y="3959352"/>
            <a:ext cx="8778240" cy="233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9456" y="4000500"/>
            <a:ext cx="6601968" cy="23317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The drift self-check does not work well enough to deploy</a:t>
            </a:r>
          </a:p>
        </p:txBody>
      </p:sp>
      <p:sp>
        <p:nvSpPr>
          <p:cNvPr id="28" name="TextBox 27"/>
          <p:cNvSpPr txBox="1"/>
          <p:nvPr/>
        </p:nvSpPr>
        <p:spPr>
          <a:xfrm>
            <a:off x="6894576" y="4000500"/>
            <a:ext cx="2029967" cy="23317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AUROC 0.53</a:t>
            </a:r>
          </a:p>
        </p:txBody>
      </p:sp>
      <p:sp>
        <p:nvSpPr>
          <p:cNvPr id="29" name="TextBox 28"/>
          <p:cNvSpPr txBox="1"/>
          <p:nvPr/>
        </p:nvSpPr>
        <p:spPr>
          <a:xfrm>
            <a:off x="219456" y="4233672"/>
            <a:ext cx="6601968" cy="23317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Forecast bands cover far less than 90% above 250 mg/dL</a:t>
            </a:r>
          </a:p>
        </p:txBody>
      </p:sp>
      <p:sp>
        <p:nvSpPr>
          <p:cNvPr id="30" name="TextBox 29"/>
          <p:cNvSpPr txBox="1"/>
          <p:nvPr/>
        </p:nvSpPr>
        <p:spPr>
          <a:xfrm>
            <a:off x="6894576" y="4233672"/>
            <a:ext cx="2029967" cy="23317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58% vs 90% target</a:t>
            </a:r>
          </a:p>
        </p:txBody>
      </p:sp>
      <p:sp>
        <p:nvSpPr>
          <p:cNvPr id="31" name="Rectangle 30"/>
          <p:cNvSpPr/>
          <p:nvPr/>
        </p:nvSpPr>
        <p:spPr>
          <a:xfrm>
            <a:off x="182880" y="4425696"/>
            <a:ext cx="8778240" cy="233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 y="4466844"/>
            <a:ext cx="6601968" cy="23317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The hypoglycaemia signal rests on a minority of patients</a:t>
            </a:r>
          </a:p>
        </p:txBody>
      </p:sp>
      <p:sp>
        <p:nvSpPr>
          <p:cNvPr id="33" name="TextBox 32"/>
          <p:cNvSpPr txBox="1"/>
          <p:nvPr/>
        </p:nvSpPr>
        <p:spPr>
          <a:xfrm>
            <a:off x="6894576" y="4466844"/>
            <a:ext cx="2029967" cy="23317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40 of 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We took it to real patients, it did not beat persistence, and the failure explains itself</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ShanghaiT2DM: 107 real CGM recordings, no retraining. Beyond what the brief asks for</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8" name="TextBox 7"/>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Evidence</a:t>
            </a:r>
          </a:p>
        </p:txBody>
      </p:sp>
      <p:sp>
        <p:nvSpPr>
          <p:cNvPr id="9" name="Rectangle 8"/>
          <p:cNvSpPr/>
          <p:nvPr/>
        </p:nvSpPr>
        <p:spPr>
          <a:xfrm>
            <a:off x="3758184"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10</a:t>
            </a:r>
          </a:p>
        </p:txBody>
      </p:sp>
      <p:sp>
        <p:nvSpPr>
          <p:cNvPr id="12" name="Rectangle 11"/>
          <p:cNvSpPr/>
          <p:nvPr/>
        </p:nvSpPr>
        <p:spPr>
          <a:xfrm>
            <a:off x="182880" y="841248"/>
            <a:ext cx="4297680" cy="27432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882396"/>
            <a:ext cx="2029967" cy="274320"/>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2-hour forecast on real patients</a:t>
            </a:r>
          </a:p>
        </p:txBody>
      </p:sp>
      <p:sp>
        <p:nvSpPr>
          <p:cNvPr id="14" name="TextBox 13"/>
          <p:cNvSpPr txBox="1"/>
          <p:nvPr/>
        </p:nvSpPr>
        <p:spPr>
          <a:xfrm>
            <a:off x="2322576" y="882396"/>
            <a:ext cx="1207007"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Twin</a:t>
            </a:r>
          </a:p>
        </p:txBody>
      </p:sp>
      <p:sp>
        <p:nvSpPr>
          <p:cNvPr id="15" name="TextBox 14"/>
          <p:cNvSpPr txBox="1"/>
          <p:nvPr/>
        </p:nvSpPr>
        <p:spPr>
          <a:xfrm>
            <a:off x="3602736" y="882396"/>
            <a:ext cx="84124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Persistence</a:t>
            </a:r>
          </a:p>
        </p:txBody>
      </p:sp>
      <p:sp>
        <p:nvSpPr>
          <p:cNvPr id="16" name="TextBox 15"/>
          <p:cNvSpPr txBox="1"/>
          <p:nvPr/>
        </p:nvSpPr>
        <p:spPr>
          <a:xfrm>
            <a:off x="219456" y="1156716"/>
            <a:ext cx="2029967"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RMSE</a:t>
            </a:r>
          </a:p>
        </p:txBody>
      </p:sp>
      <p:sp>
        <p:nvSpPr>
          <p:cNvPr id="17" name="TextBox 16"/>
          <p:cNvSpPr txBox="1"/>
          <p:nvPr/>
        </p:nvSpPr>
        <p:spPr>
          <a:xfrm>
            <a:off x="2322576" y="1156716"/>
            <a:ext cx="120700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52 mg/dL</a:t>
            </a:r>
          </a:p>
        </p:txBody>
      </p:sp>
      <p:sp>
        <p:nvSpPr>
          <p:cNvPr id="18" name="TextBox 17"/>
          <p:cNvSpPr txBox="1"/>
          <p:nvPr/>
        </p:nvSpPr>
        <p:spPr>
          <a:xfrm>
            <a:off x="3602736" y="1156716"/>
            <a:ext cx="84124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46 mg/dL</a:t>
            </a:r>
          </a:p>
        </p:txBody>
      </p:sp>
      <p:sp>
        <p:nvSpPr>
          <p:cNvPr id="19" name="Rectangle 18"/>
          <p:cNvSpPr/>
          <p:nvPr/>
        </p:nvSpPr>
        <p:spPr>
          <a:xfrm>
            <a:off x="182880" y="1389888"/>
            <a:ext cx="4297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 y="1431036"/>
            <a:ext cx="2029967"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Clarke zones A+B</a:t>
            </a:r>
          </a:p>
        </p:txBody>
      </p:sp>
      <p:sp>
        <p:nvSpPr>
          <p:cNvPr id="21" name="TextBox 20"/>
          <p:cNvSpPr txBox="1"/>
          <p:nvPr/>
        </p:nvSpPr>
        <p:spPr>
          <a:xfrm>
            <a:off x="2322576" y="1431036"/>
            <a:ext cx="120700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91.4%</a:t>
            </a:r>
          </a:p>
        </p:txBody>
      </p:sp>
      <p:sp>
        <p:nvSpPr>
          <p:cNvPr id="22" name="TextBox 21"/>
          <p:cNvSpPr txBox="1"/>
          <p:nvPr/>
        </p:nvSpPr>
        <p:spPr>
          <a:xfrm>
            <a:off x="3602736" y="1431036"/>
            <a:ext cx="84124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95.5%</a:t>
            </a:r>
          </a:p>
        </p:txBody>
      </p:sp>
      <p:sp>
        <p:nvSpPr>
          <p:cNvPr id="23" name="TextBox 22"/>
          <p:cNvSpPr txBox="1"/>
          <p:nvPr/>
        </p:nvSpPr>
        <p:spPr>
          <a:xfrm>
            <a:off x="219456" y="1705356"/>
            <a:ext cx="2029967"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On our own simulator</a:t>
            </a:r>
          </a:p>
        </p:txBody>
      </p:sp>
      <p:sp>
        <p:nvSpPr>
          <p:cNvPr id="24" name="TextBox 23"/>
          <p:cNvSpPr txBox="1"/>
          <p:nvPr/>
        </p:nvSpPr>
        <p:spPr>
          <a:xfrm>
            <a:off x="2322576" y="1705356"/>
            <a:ext cx="1207007"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38 mg/dL, ahead of persistence</a:t>
            </a:r>
          </a:p>
        </p:txBody>
      </p:sp>
      <p:sp>
        <p:nvSpPr>
          <p:cNvPr id="25" name="TextBox 24"/>
          <p:cNvSpPr txBox="1"/>
          <p:nvPr/>
        </p:nvSpPr>
        <p:spPr>
          <a:xfrm>
            <a:off x="3602736" y="1705356"/>
            <a:ext cx="84124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55 mg/dL</a:t>
            </a:r>
          </a:p>
        </p:txBody>
      </p:sp>
      <p:sp>
        <p:nvSpPr>
          <p:cNvPr id="26" name="Rectangle 25"/>
          <p:cNvSpPr/>
          <p:nvPr/>
        </p:nvSpPr>
        <p:spPr>
          <a:xfrm>
            <a:off x="4663440" y="841248"/>
            <a:ext cx="4297680" cy="27432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0016" y="882396"/>
            <a:ext cx="3035808" cy="274320"/>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Can a better prior fix it? (59 held-out patients)</a:t>
            </a:r>
          </a:p>
        </p:txBody>
      </p:sp>
      <p:sp>
        <p:nvSpPr>
          <p:cNvPr id="28" name="TextBox 27"/>
          <p:cNvSpPr txBox="1"/>
          <p:nvPr/>
        </p:nvSpPr>
        <p:spPr>
          <a:xfrm>
            <a:off x="7808975" y="882396"/>
            <a:ext cx="1115568" cy="274320"/>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Ratio to persistence</a:t>
            </a:r>
          </a:p>
        </p:txBody>
      </p:sp>
      <p:sp>
        <p:nvSpPr>
          <p:cNvPr id="29" name="TextBox 28"/>
          <p:cNvSpPr txBox="1"/>
          <p:nvPr/>
        </p:nvSpPr>
        <p:spPr>
          <a:xfrm>
            <a:off x="4700016" y="1156716"/>
            <a:ext cx="3035808"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Original prior, as submitted</a:t>
            </a:r>
          </a:p>
        </p:txBody>
      </p:sp>
      <p:sp>
        <p:nvSpPr>
          <p:cNvPr id="30" name="TextBox 29"/>
          <p:cNvSpPr txBox="1"/>
          <p:nvPr/>
        </p:nvSpPr>
        <p:spPr>
          <a:xfrm>
            <a:off x="7808975" y="1156716"/>
            <a:ext cx="11155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1.10</a:t>
            </a:r>
          </a:p>
        </p:txBody>
      </p:sp>
      <p:sp>
        <p:nvSpPr>
          <p:cNvPr id="31" name="Rectangle 30"/>
          <p:cNvSpPr/>
          <p:nvPr/>
        </p:nvSpPr>
        <p:spPr>
          <a:xfrm>
            <a:off x="4663440" y="1389888"/>
            <a:ext cx="4297680" cy="27432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431036"/>
            <a:ext cx="3035808" cy="274320"/>
          </a:xfrm>
          <a:prstGeom prst="rect">
            <a:avLst/>
          </a:prstGeom>
          <a:noFill/>
        </p:spPr>
        <p:txBody>
          <a:bodyPr wrap="square" lIns="36576" rIns="36576" tIns="18288" bIns="18288">
            <a:spAutoFit/>
          </a:bodyPr>
          <a:lstStyle/>
          <a:p>
            <a:pPr algn="l">
              <a:spcAft>
                <a:spcPts val="200"/>
              </a:spcAft>
            </a:pPr>
            <a:r>
              <a:rPr sz="800" b="1">
                <a:solidFill>
                  <a:srgbClr val="262626"/>
                </a:solidFill>
                <a:latin typeface="Aptos"/>
              </a:rPr>
              <a:t>Original prior, simply widened</a:t>
            </a:r>
          </a:p>
        </p:txBody>
      </p:sp>
      <p:sp>
        <p:nvSpPr>
          <p:cNvPr id="33" name="TextBox 32"/>
          <p:cNvSpPr txBox="1"/>
          <p:nvPr/>
        </p:nvSpPr>
        <p:spPr>
          <a:xfrm>
            <a:off x="7808975" y="1431036"/>
            <a:ext cx="1115568" cy="274320"/>
          </a:xfrm>
          <a:prstGeom prst="rect">
            <a:avLst/>
          </a:prstGeom>
          <a:noFill/>
        </p:spPr>
        <p:txBody>
          <a:bodyPr wrap="square" lIns="36576" rIns="36576" tIns="18288" bIns="18288">
            <a:spAutoFit/>
          </a:bodyPr>
          <a:lstStyle/>
          <a:p>
            <a:pPr algn="ctr">
              <a:spcAft>
                <a:spcPts val="200"/>
              </a:spcAft>
            </a:pPr>
            <a:r>
              <a:rPr sz="800" b="1">
                <a:solidFill>
                  <a:srgbClr val="262626"/>
                </a:solidFill>
                <a:latin typeface="Aptos"/>
              </a:rPr>
              <a:t>1.01</a:t>
            </a:r>
          </a:p>
        </p:txBody>
      </p:sp>
      <p:sp>
        <p:nvSpPr>
          <p:cNvPr id="34" name="TextBox 33"/>
          <p:cNvSpPr txBox="1"/>
          <p:nvPr/>
        </p:nvSpPr>
        <p:spPr>
          <a:xfrm>
            <a:off x="4700016" y="1705356"/>
            <a:ext cx="3035808" cy="274320"/>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Prior refitted on real patients</a:t>
            </a:r>
          </a:p>
        </p:txBody>
      </p:sp>
      <p:sp>
        <p:nvSpPr>
          <p:cNvPr id="35" name="TextBox 34"/>
          <p:cNvSpPr txBox="1"/>
          <p:nvPr/>
        </p:nvSpPr>
        <p:spPr>
          <a:xfrm>
            <a:off x="7808975" y="1705356"/>
            <a:ext cx="1115568" cy="274320"/>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1.10</a:t>
            </a:r>
          </a:p>
        </p:txBody>
      </p:sp>
      <p:sp>
        <p:nvSpPr>
          <p:cNvPr id="36" name="Rectangle 35"/>
          <p:cNvSpPr/>
          <p:nvPr/>
        </p:nvSpPr>
        <p:spPr>
          <a:xfrm>
            <a:off x="182880" y="2103120"/>
            <a:ext cx="8778240" cy="118872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176272"/>
            <a:ext cx="8503920" cy="201168"/>
          </a:xfrm>
          <a:prstGeom prst="rect">
            <a:avLst/>
          </a:prstGeom>
          <a:noFill/>
        </p:spPr>
        <p:txBody>
          <a:bodyPr wrap="square" lIns="36576" rIns="36576" tIns="18288" bIns="18288">
            <a:spAutoFit/>
          </a:bodyPr>
          <a:lstStyle/>
          <a:p>
            <a:pPr algn="l">
              <a:spcAft>
                <a:spcPts val="200"/>
              </a:spcAft>
            </a:pPr>
            <a:r>
              <a:rPr sz="900" b="1">
                <a:solidFill>
                  <a:srgbClr val="FFFFFF"/>
                </a:solidFill>
                <a:latin typeface="Aptos"/>
              </a:rPr>
              <a:t>The finding is worth more than a fixed number</a:t>
            </a:r>
          </a:p>
        </p:txBody>
      </p:sp>
      <p:sp>
        <p:nvSpPr>
          <p:cNvPr id="38" name="TextBox 37"/>
          <p:cNvSpPr txBox="1"/>
          <p:nvPr/>
        </p:nvSpPr>
        <p:spPr>
          <a:xfrm>
            <a:off x="310896" y="2414016"/>
            <a:ext cx="8503920" cy="822960"/>
          </a:xfrm>
          <a:prstGeom prst="rect">
            <a:avLst/>
          </a:prstGeom>
          <a:noFill/>
        </p:spPr>
        <p:txBody>
          <a:bodyPr wrap="square" lIns="36576" rIns="36576" tIns="18288" bIns="18288">
            <a:spAutoFit/>
          </a:bodyPr>
          <a:lstStyle/>
          <a:p>
            <a:pPr algn="l">
              <a:spcAft>
                <a:spcPts val="400"/>
              </a:spcAft>
            </a:pPr>
            <a:r>
              <a:rPr sz="850" b="0">
                <a:solidFill>
                  <a:srgbClr val="FFFFFF"/>
                </a:solidFill>
                <a:latin typeface="Aptos"/>
              </a:rPr>
              <a:t>Refitting the prior on real patients changed nothing. Merely widening it reached parity with persistence and no further.</a:t>
            </a:r>
          </a:p>
          <a:p>
            <a:pPr algn="l">
              <a:spcAft>
                <a:spcPts val="400"/>
              </a:spcAft>
            </a:pPr>
            <a:r>
              <a:rPr sz="850" b="0">
                <a:solidFill>
                  <a:srgbClr val="FFFFFF"/>
                </a:solidFill>
                <a:latin typeface="Aptos"/>
              </a:rPr>
              <a:t>The refit told us why. Its residual spread exploded: hepatic set-point SD went from 8 to 40 mg/dL and ln insulin sensitivity from 0.22 to 1.26. In a real cohort the routine EHR fields barely predict these physiological parameters. In our simulator they predict them well because the simulator generated the labs from those parameters in the first place.</a:t>
            </a:r>
          </a:p>
        </p:txBody>
      </p:sp>
      <p:sp>
        <p:nvSpPr>
          <p:cNvPr id="39" name="Rectangle 38"/>
          <p:cNvSpPr/>
          <p:nvPr/>
        </p:nvSpPr>
        <p:spPr>
          <a:xfrm>
            <a:off x="182880" y="3419856"/>
            <a:ext cx="429768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7744" y="3483864"/>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What this changes</a:t>
            </a:r>
          </a:p>
        </p:txBody>
      </p:sp>
      <p:sp>
        <p:nvSpPr>
          <p:cNvPr id="41" name="TextBox 40"/>
          <p:cNvSpPr txBox="1"/>
          <p:nvPr/>
        </p:nvSpPr>
        <p:spPr>
          <a:xfrm>
            <a:off x="237744" y="3721608"/>
            <a:ext cx="4187952" cy="804672"/>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Not the design. The mechanistic core, the filter, the rehearsal and the sensor ladder are unchanged.</a:t>
            </a:r>
          </a:p>
          <a:p>
            <a:pPr algn="l">
              <a:spcAft>
                <a:spcPts val="300"/>
              </a:spcAft>
            </a:pPr>
            <a:r>
              <a:rPr sz="800" b="0">
                <a:solidFill>
                  <a:srgbClr val="262626"/>
                </a:solidFill>
                <a:latin typeface="Aptos"/>
              </a:rPr>
              <a:t>It puts a number on the warning the README already carried: the simulated results are an upper bound.</a:t>
            </a:r>
          </a:p>
        </p:txBody>
      </p:sp>
      <p:sp>
        <p:nvSpPr>
          <p:cNvPr id="42" name="Rectangle 41"/>
          <p:cNvSpPr/>
          <p:nvPr/>
        </p:nvSpPr>
        <p:spPr>
          <a:xfrm>
            <a:off x="4663440" y="3419856"/>
            <a:ext cx="429768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18303" y="3483864"/>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What would have to happen next</a:t>
            </a:r>
          </a:p>
        </p:txBody>
      </p:sp>
      <p:sp>
        <p:nvSpPr>
          <p:cNvPr id="44" name="TextBox 43"/>
          <p:cNvSpPr txBox="1"/>
          <p:nvPr/>
        </p:nvSpPr>
        <p:spPr>
          <a:xfrm>
            <a:off x="4718303" y="3721608"/>
            <a:ext cx="4187952" cy="804672"/>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Fit the prior against real physiological reference data, from clamp or OGTT studies, not routine labs.</a:t>
            </a:r>
          </a:p>
          <a:p>
            <a:pPr algn="l">
              <a:spcAft>
                <a:spcPts val="300"/>
              </a:spcAft>
            </a:pPr>
            <a:r>
              <a:rPr sz="800" b="0">
                <a:solidFill>
                  <a:srgbClr val="262626"/>
                </a:solidFill>
                <a:latin typeface="Aptos"/>
              </a:rPr>
              <a:t>Handle sparse 15-minute sampling directly instead of upsampling.</a:t>
            </a:r>
          </a:p>
          <a:p>
            <a:pPr algn="l">
              <a:spcAft>
                <a:spcPts val="300"/>
              </a:spcAft>
            </a:pPr>
            <a:r>
              <a:rPr sz="800" b="0">
                <a:solidFill>
                  <a:srgbClr val="262626"/>
                </a:solidFill>
                <a:latin typeface="Aptos"/>
              </a:rPr>
              <a:t>Then repeat this same script and see whether the numbers move.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Audited first on the axis this project is built on</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Fairness, uncertainty and the Indian regulatory path</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8" name="TextBox 7"/>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Evidence</a:t>
            </a:r>
          </a:p>
        </p:txBody>
      </p:sp>
      <p:sp>
        <p:nvSpPr>
          <p:cNvPr id="9" name="Rectangle 8"/>
          <p:cNvSpPr/>
          <p:nvPr/>
        </p:nvSpPr>
        <p:spPr>
          <a:xfrm>
            <a:off x="3758184"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Deployment</a:t>
            </a: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11</a:t>
            </a:r>
          </a:p>
        </p:txBody>
      </p:sp>
      <p:sp>
        <p:nvSpPr>
          <p:cNvPr id="12" name="Rectangle 11"/>
          <p:cNvSpPr/>
          <p:nvPr/>
        </p:nvSpPr>
        <p:spPr>
          <a:xfrm>
            <a:off x="182880" y="841248"/>
            <a:ext cx="3063240" cy="256032"/>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882396"/>
            <a:ext cx="1618488" cy="256032"/>
          </a:xfrm>
          <a:prstGeom prst="rect">
            <a:avLst/>
          </a:prstGeom>
          <a:noFill/>
        </p:spPr>
        <p:txBody>
          <a:bodyPr wrap="square" lIns="36576" rIns="36576" tIns="18288" bIns="18288">
            <a:spAutoFit/>
          </a:bodyPr>
          <a:lstStyle/>
          <a:p>
            <a:pPr algn="l">
              <a:spcAft>
                <a:spcPts val="200"/>
              </a:spcAft>
            </a:pPr>
            <a:r>
              <a:rPr sz="800" b="1">
                <a:solidFill>
                  <a:srgbClr val="FFFFFF"/>
                </a:solidFill>
                <a:latin typeface="Aptos"/>
              </a:rPr>
              <a:t>Fasting tradition</a:t>
            </a:r>
          </a:p>
        </p:txBody>
      </p:sp>
      <p:sp>
        <p:nvSpPr>
          <p:cNvPr id="14" name="TextBox 13"/>
          <p:cNvSpPr txBox="1"/>
          <p:nvPr/>
        </p:nvSpPr>
        <p:spPr>
          <a:xfrm>
            <a:off x="1911096" y="882396"/>
            <a:ext cx="704088" cy="256032"/>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AUROC</a:t>
            </a:r>
          </a:p>
        </p:txBody>
      </p:sp>
      <p:sp>
        <p:nvSpPr>
          <p:cNvPr id="15" name="TextBox 14"/>
          <p:cNvSpPr txBox="1"/>
          <p:nvPr/>
        </p:nvSpPr>
        <p:spPr>
          <a:xfrm>
            <a:off x="2688336" y="882396"/>
            <a:ext cx="521208" cy="256032"/>
          </a:xfrm>
          <a:prstGeom prst="rect">
            <a:avLst/>
          </a:prstGeom>
          <a:noFill/>
        </p:spPr>
        <p:txBody>
          <a:bodyPr wrap="square" lIns="36576" rIns="36576" tIns="18288" bIns="18288">
            <a:spAutoFit/>
          </a:bodyPr>
          <a:lstStyle/>
          <a:p>
            <a:pPr algn="ctr">
              <a:spcAft>
                <a:spcPts val="200"/>
              </a:spcAft>
            </a:pPr>
            <a:r>
              <a:rPr sz="800" b="1">
                <a:solidFill>
                  <a:srgbClr val="FFFFFF"/>
                </a:solidFill>
                <a:latin typeface="Aptos"/>
              </a:rPr>
              <a:t>Events</a:t>
            </a:r>
          </a:p>
        </p:txBody>
      </p:sp>
      <p:sp>
        <p:nvSpPr>
          <p:cNvPr id="16" name="TextBox 15"/>
          <p:cNvSpPr txBox="1"/>
          <p:nvPr/>
        </p:nvSpPr>
        <p:spPr>
          <a:xfrm>
            <a:off x="219456" y="1138428"/>
            <a:ext cx="1618488" cy="25603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karva chauth</a:t>
            </a:r>
          </a:p>
        </p:txBody>
      </p:sp>
      <p:sp>
        <p:nvSpPr>
          <p:cNvPr id="17" name="TextBox 16"/>
          <p:cNvSpPr txBox="1"/>
          <p:nvPr/>
        </p:nvSpPr>
        <p:spPr>
          <a:xfrm>
            <a:off x="1911096" y="1138428"/>
            <a:ext cx="70408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0.980</a:t>
            </a:r>
          </a:p>
        </p:txBody>
      </p:sp>
      <p:sp>
        <p:nvSpPr>
          <p:cNvPr id="18" name="TextBox 17"/>
          <p:cNvSpPr txBox="1"/>
          <p:nvPr/>
        </p:nvSpPr>
        <p:spPr>
          <a:xfrm>
            <a:off x="2688336" y="1138428"/>
            <a:ext cx="52120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76</a:t>
            </a:r>
          </a:p>
        </p:txBody>
      </p:sp>
      <p:sp>
        <p:nvSpPr>
          <p:cNvPr id="19" name="Rectangle 18"/>
          <p:cNvSpPr/>
          <p:nvPr/>
        </p:nvSpPr>
        <p:spPr>
          <a:xfrm>
            <a:off x="182880" y="1353312"/>
            <a:ext cx="3063240"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 y="1394460"/>
            <a:ext cx="1618488" cy="25603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navratri</a:t>
            </a:r>
          </a:p>
        </p:txBody>
      </p:sp>
      <p:sp>
        <p:nvSpPr>
          <p:cNvPr id="21" name="TextBox 20"/>
          <p:cNvSpPr txBox="1"/>
          <p:nvPr/>
        </p:nvSpPr>
        <p:spPr>
          <a:xfrm>
            <a:off x="1911096" y="1394460"/>
            <a:ext cx="70408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0.938</a:t>
            </a:r>
          </a:p>
        </p:txBody>
      </p:sp>
      <p:sp>
        <p:nvSpPr>
          <p:cNvPr id="22" name="TextBox 21"/>
          <p:cNvSpPr txBox="1"/>
          <p:nvPr/>
        </p:nvSpPr>
        <p:spPr>
          <a:xfrm>
            <a:off x="2688336" y="1394460"/>
            <a:ext cx="52120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1245</a:t>
            </a:r>
          </a:p>
        </p:txBody>
      </p:sp>
      <p:sp>
        <p:nvSpPr>
          <p:cNvPr id="23" name="TextBox 22"/>
          <p:cNvSpPr txBox="1"/>
          <p:nvPr/>
        </p:nvSpPr>
        <p:spPr>
          <a:xfrm>
            <a:off x="219456" y="1650492"/>
            <a:ext cx="1618488" cy="25603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none</a:t>
            </a:r>
          </a:p>
        </p:txBody>
      </p:sp>
      <p:sp>
        <p:nvSpPr>
          <p:cNvPr id="24" name="TextBox 23"/>
          <p:cNvSpPr txBox="1"/>
          <p:nvPr/>
        </p:nvSpPr>
        <p:spPr>
          <a:xfrm>
            <a:off x="1911096" y="1650492"/>
            <a:ext cx="70408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0.981</a:t>
            </a:r>
          </a:p>
        </p:txBody>
      </p:sp>
      <p:sp>
        <p:nvSpPr>
          <p:cNvPr id="25" name="TextBox 24"/>
          <p:cNvSpPr txBox="1"/>
          <p:nvPr/>
        </p:nvSpPr>
        <p:spPr>
          <a:xfrm>
            <a:off x="2688336" y="1650492"/>
            <a:ext cx="52120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673</a:t>
            </a:r>
          </a:p>
        </p:txBody>
      </p:sp>
      <p:sp>
        <p:nvSpPr>
          <p:cNvPr id="26" name="Rectangle 25"/>
          <p:cNvSpPr/>
          <p:nvPr/>
        </p:nvSpPr>
        <p:spPr>
          <a:xfrm>
            <a:off x="182880" y="1865376"/>
            <a:ext cx="3063240"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9456" y="1906524"/>
            <a:ext cx="1618488" cy="256032"/>
          </a:xfrm>
          <a:prstGeom prst="rect">
            <a:avLst/>
          </a:prstGeom>
          <a:noFill/>
        </p:spPr>
        <p:txBody>
          <a:bodyPr wrap="square" lIns="36576" rIns="36576" tIns="18288" bIns="18288">
            <a:spAutoFit/>
          </a:bodyPr>
          <a:lstStyle/>
          <a:p>
            <a:pPr algn="l">
              <a:spcAft>
                <a:spcPts val="200"/>
              </a:spcAft>
            </a:pPr>
            <a:r>
              <a:rPr sz="800" b="0">
                <a:solidFill>
                  <a:srgbClr val="262626"/>
                </a:solidFill>
                <a:latin typeface="Aptos"/>
              </a:rPr>
              <a:t>ramadan</a:t>
            </a:r>
          </a:p>
        </p:txBody>
      </p:sp>
      <p:sp>
        <p:nvSpPr>
          <p:cNvPr id="28" name="TextBox 27"/>
          <p:cNvSpPr txBox="1"/>
          <p:nvPr/>
        </p:nvSpPr>
        <p:spPr>
          <a:xfrm>
            <a:off x="1911096" y="1906524"/>
            <a:ext cx="70408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0.973</a:t>
            </a:r>
          </a:p>
        </p:txBody>
      </p:sp>
      <p:sp>
        <p:nvSpPr>
          <p:cNvPr id="29" name="TextBox 28"/>
          <p:cNvSpPr txBox="1"/>
          <p:nvPr/>
        </p:nvSpPr>
        <p:spPr>
          <a:xfrm>
            <a:off x="2688336" y="1906524"/>
            <a:ext cx="521208" cy="256032"/>
          </a:xfrm>
          <a:prstGeom prst="rect">
            <a:avLst/>
          </a:prstGeom>
          <a:noFill/>
        </p:spPr>
        <p:txBody>
          <a:bodyPr wrap="square" lIns="36576" rIns="36576" tIns="18288" bIns="18288">
            <a:spAutoFit/>
          </a:bodyPr>
          <a:lstStyle/>
          <a:p>
            <a:pPr algn="ctr">
              <a:spcAft>
                <a:spcPts val="200"/>
              </a:spcAft>
            </a:pPr>
            <a:r>
              <a:rPr sz="800" b="0">
                <a:solidFill>
                  <a:srgbClr val="262626"/>
                </a:solidFill>
                <a:latin typeface="Aptos"/>
              </a:rPr>
              <a:t>404</a:t>
            </a:r>
          </a:p>
        </p:txBody>
      </p:sp>
      <p:sp>
        <p:nvSpPr>
          <p:cNvPr id="30" name="Rectangle 29"/>
          <p:cNvSpPr/>
          <p:nvPr/>
        </p:nvSpPr>
        <p:spPr>
          <a:xfrm>
            <a:off x="3429000" y="841248"/>
            <a:ext cx="2743200" cy="1536192"/>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83864" y="905256"/>
            <a:ext cx="263347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Uncertainty that keeps its promise</a:t>
            </a:r>
          </a:p>
        </p:txBody>
      </p:sp>
      <p:sp>
        <p:nvSpPr>
          <p:cNvPr id="32" name="TextBox 31"/>
          <p:cNvSpPr txBox="1"/>
          <p:nvPr/>
        </p:nvSpPr>
        <p:spPr>
          <a:xfrm>
            <a:off x="3483864" y="1143000"/>
            <a:ext cx="2633472" cy="1170431"/>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A single conformal margin covers 47% of outcomes above 250 mg/dL while claiming 90%.</a:t>
            </a:r>
          </a:p>
          <a:p>
            <a:pPr algn="l">
              <a:spcAft>
                <a:spcPts val="300"/>
              </a:spcAft>
            </a:pPr>
            <a:r>
              <a:rPr sz="750" b="0">
                <a:solidFill>
                  <a:srgbClr val="262626"/>
                </a:solidFill>
                <a:latin typeface="Aptos"/>
              </a:rPr>
              <a:t>Mondrian conformal, calibrated per predicted-glucose band, raises that to 58% with a narrower band overall.</a:t>
            </a:r>
          </a:p>
          <a:p>
            <a:pPr algn="l">
              <a:spcAft>
                <a:spcPts val="300"/>
              </a:spcAft>
            </a:pPr>
            <a:r>
              <a:rPr sz="750" b="0">
                <a:solidFill>
                  <a:srgbClr val="262626"/>
                </a:solidFill>
                <a:latin typeface="Aptos"/>
              </a:rPr>
              <a:t>Both are published, by outcome range.</a:t>
            </a:r>
          </a:p>
        </p:txBody>
      </p:sp>
      <p:sp>
        <p:nvSpPr>
          <p:cNvPr id="33" name="Rectangle 32"/>
          <p:cNvSpPr/>
          <p:nvPr/>
        </p:nvSpPr>
        <p:spPr>
          <a:xfrm>
            <a:off x="6355080" y="841248"/>
            <a:ext cx="2606040" cy="15361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9944" y="905256"/>
            <a:ext cx="249631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Also audited</a:t>
            </a:r>
          </a:p>
        </p:txBody>
      </p:sp>
      <p:sp>
        <p:nvSpPr>
          <p:cNvPr id="35" name="TextBox 34"/>
          <p:cNvSpPr txBox="1"/>
          <p:nvPr/>
        </p:nvSpPr>
        <p:spPr>
          <a:xfrm>
            <a:off x="6409944" y="1143000"/>
            <a:ext cx="2496312" cy="1170431"/>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Sex, urban and rural, age, eGFR, region.</a:t>
            </a:r>
          </a:p>
          <a:p>
            <a:pPr algn="l">
              <a:spcAft>
                <a:spcPts val="300"/>
              </a:spcAft>
            </a:pPr>
            <a:r>
              <a:rPr sz="750" b="0">
                <a:solidFill>
                  <a:srgbClr val="262626"/>
                </a:solidFill>
                <a:latin typeface="Aptos"/>
              </a:rPr>
              <a:t>A model card ships inside the dashboard.</a:t>
            </a:r>
          </a:p>
          <a:p>
            <a:pPr algn="l">
              <a:spcAft>
                <a:spcPts val="300"/>
              </a:spcAft>
            </a:pPr>
            <a:r>
              <a:rPr sz="750" b="0">
                <a:solidFill>
                  <a:srgbClr val="262626"/>
                </a:solidFill>
                <a:latin typeface="Aptos"/>
              </a:rPr>
              <a:t>The tier C path still works for a patient who refuses or cannot afford a wearable.</a:t>
            </a:r>
          </a:p>
        </p:txBody>
      </p:sp>
      <p:sp>
        <p:nvSpPr>
          <p:cNvPr id="36" name="Rectangle 35"/>
          <p:cNvSpPr/>
          <p:nvPr/>
        </p:nvSpPr>
        <p:spPr>
          <a:xfrm>
            <a:off x="182880" y="2542032"/>
            <a:ext cx="8778240" cy="402336"/>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9456" y="2583179"/>
            <a:ext cx="2212848" cy="402336"/>
          </a:xfrm>
          <a:prstGeom prst="rect">
            <a:avLst/>
          </a:prstGeom>
          <a:noFill/>
        </p:spPr>
        <p:txBody>
          <a:bodyPr wrap="square" lIns="36576" rIns="36576" tIns="18288" bIns="18288">
            <a:spAutoFit/>
          </a:bodyPr>
          <a:lstStyle/>
          <a:p>
            <a:pPr algn="l">
              <a:spcAft>
                <a:spcPts val="200"/>
              </a:spcAft>
            </a:pPr>
            <a:r>
              <a:rPr sz="750" b="1">
                <a:solidFill>
                  <a:srgbClr val="FFFFFF"/>
                </a:solidFill>
                <a:latin typeface="Aptos"/>
              </a:rPr>
              <a:t>Requirement</a:t>
            </a:r>
          </a:p>
        </p:txBody>
      </p:sp>
      <p:sp>
        <p:nvSpPr>
          <p:cNvPr id="38" name="TextBox 37"/>
          <p:cNvSpPr txBox="1"/>
          <p:nvPr/>
        </p:nvSpPr>
        <p:spPr>
          <a:xfrm>
            <a:off x="2505456" y="2583179"/>
            <a:ext cx="6419088" cy="402336"/>
          </a:xfrm>
          <a:prstGeom prst="rect">
            <a:avLst/>
          </a:prstGeom>
          <a:noFill/>
        </p:spPr>
        <p:txBody>
          <a:bodyPr wrap="square" lIns="36576" rIns="36576" tIns="18288" bIns="18288">
            <a:spAutoFit/>
          </a:bodyPr>
          <a:lstStyle/>
          <a:p>
            <a:pPr algn="ctr">
              <a:spcAft>
                <a:spcPts val="200"/>
              </a:spcAft>
            </a:pPr>
            <a:r>
              <a:rPr sz="750" b="1">
                <a:solidFill>
                  <a:srgbClr val="FFFFFF"/>
                </a:solidFill>
                <a:latin typeface="Aptos"/>
              </a:rPr>
              <a:t>How UPVAAS-Twin meets it</a:t>
            </a:r>
          </a:p>
        </p:txBody>
      </p:sp>
      <p:sp>
        <p:nvSpPr>
          <p:cNvPr id="39" name="TextBox 38"/>
          <p:cNvSpPr txBox="1"/>
          <p:nvPr/>
        </p:nvSpPr>
        <p:spPr>
          <a:xfrm>
            <a:off x="219456" y="2985515"/>
            <a:ext cx="2212848" cy="402336"/>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DPDP Act 2023 / Rules 2025</a:t>
            </a:r>
          </a:p>
        </p:txBody>
      </p:sp>
      <p:sp>
        <p:nvSpPr>
          <p:cNvPr id="40" name="TextBox 39"/>
          <p:cNvSpPr txBox="1"/>
          <p:nvPr/>
        </p:nvSpPr>
        <p:spPr>
          <a:xfrm>
            <a:off x="2505456" y="2985515"/>
            <a:ext cx="6419088" cy="402336"/>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Synthetic data only. Production design keeps a consent ID on every record, enforces purpose limitation, deletes on expiry.</a:t>
            </a:r>
          </a:p>
        </p:txBody>
      </p:sp>
      <p:sp>
        <p:nvSpPr>
          <p:cNvPr id="41" name="Rectangle 40"/>
          <p:cNvSpPr/>
          <p:nvPr/>
        </p:nvSpPr>
        <p:spPr>
          <a:xfrm>
            <a:off x="182880" y="3346703"/>
            <a:ext cx="8778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9456" y="3387851"/>
            <a:ext cx="2212848" cy="402336"/>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ABDM</a:t>
            </a:r>
          </a:p>
        </p:txBody>
      </p:sp>
      <p:sp>
        <p:nvSpPr>
          <p:cNvPr id="43" name="TextBox 42"/>
          <p:cNvSpPr txBox="1"/>
          <p:nvPr/>
        </p:nvSpPr>
        <p:spPr>
          <a:xfrm>
            <a:off x="2505456" y="3387851"/>
            <a:ext cx="6419088" cy="402336"/>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Registers as a Health Information User. Consent artefact via HIE-CM. FHIR R4 bundles validated against the R4 schema.</a:t>
            </a:r>
          </a:p>
        </p:txBody>
      </p:sp>
      <p:sp>
        <p:nvSpPr>
          <p:cNvPr id="44" name="TextBox 43"/>
          <p:cNvSpPr txBox="1"/>
          <p:nvPr/>
        </p:nvSpPr>
        <p:spPr>
          <a:xfrm>
            <a:off x="219456" y="3790187"/>
            <a:ext cx="2212848" cy="402336"/>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CDSCO draft software guidance, Oct 2025</a:t>
            </a:r>
          </a:p>
        </p:txBody>
      </p:sp>
      <p:sp>
        <p:nvSpPr>
          <p:cNvPr id="45" name="TextBox 44"/>
          <p:cNvSpPr txBox="1"/>
          <p:nvPr/>
        </p:nvSpPr>
        <p:spPr>
          <a:xfrm>
            <a:off x="2505456" y="3790187"/>
            <a:ext cx="6419088" cy="402336"/>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Informs a registered practitioner rather than directing treatment, so likely Class B. Drift monitor is the hook an Algorithm Change Protocol would attach to.</a:t>
            </a:r>
          </a:p>
        </p:txBody>
      </p:sp>
      <p:sp>
        <p:nvSpPr>
          <p:cNvPr id="46" name="Rectangle 45"/>
          <p:cNvSpPr/>
          <p:nvPr/>
        </p:nvSpPr>
        <p:spPr>
          <a:xfrm>
            <a:off x="182880" y="4151376"/>
            <a:ext cx="8778240" cy="40233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9456" y="4192524"/>
            <a:ext cx="2212848" cy="402336"/>
          </a:xfrm>
          <a:prstGeom prst="rect">
            <a:avLst/>
          </a:prstGeom>
          <a:noFill/>
        </p:spPr>
        <p:txBody>
          <a:bodyPr wrap="square" lIns="36576" rIns="36576" tIns="18288" bIns="18288">
            <a:spAutoFit/>
          </a:bodyPr>
          <a:lstStyle/>
          <a:p>
            <a:pPr algn="l">
              <a:spcAft>
                <a:spcPts val="200"/>
              </a:spcAft>
            </a:pPr>
            <a:r>
              <a:rPr sz="750" b="0">
                <a:solidFill>
                  <a:srgbClr val="262626"/>
                </a:solidFill>
                <a:latin typeface="Aptos"/>
              </a:rPr>
              <a:t>ICMR 2023 AI ethics</a:t>
            </a:r>
          </a:p>
        </p:txBody>
      </p:sp>
      <p:sp>
        <p:nvSpPr>
          <p:cNvPr id="48" name="TextBox 47"/>
          <p:cNvSpPr txBox="1"/>
          <p:nvPr/>
        </p:nvSpPr>
        <p:spPr>
          <a:xfrm>
            <a:off x="2505456" y="4192524"/>
            <a:ext cx="6419088" cy="402336"/>
          </a:xfrm>
          <a:prstGeom prst="rect">
            <a:avLst/>
          </a:prstGeom>
          <a:noFill/>
        </p:spPr>
        <p:txBody>
          <a:bodyPr wrap="square" lIns="36576" rIns="36576" tIns="18288" bIns="18288">
            <a:spAutoFit/>
          </a:bodyPr>
          <a:lstStyle/>
          <a:p>
            <a:pPr algn="ctr">
              <a:spcAft>
                <a:spcPts val="200"/>
              </a:spcAft>
            </a:pPr>
            <a:r>
              <a:rPr sz="750" b="0">
                <a:solidFill>
                  <a:srgbClr val="262626"/>
                </a:solidFill>
                <a:latin typeface="Aptos"/>
              </a:rPr>
              <a:t>Human in the loop, Indian-representative priors, subgroup audit, published model card, a working path for patients without devices.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28016"/>
            <a:ext cx="8503920" cy="365760"/>
          </a:xfrm>
          <a:prstGeom prst="rect">
            <a:avLst/>
          </a:prstGeom>
          <a:noFill/>
        </p:spPr>
        <p:txBody>
          <a:bodyPr wrap="square" lIns="36576" rIns="36576" tIns="18288" bIns="18288">
            <a:spAutoFit/>
          </a:bodyPr>
          <a:lstStyle/>
          <a:p>
            <a:pPr algn="l">
              <a:spcAft>
                <a:spcPts val="200"/>
              </a:spcAft>
            </a:pPr>
            <a:r>
              <a:rPr sz="1500" b="1">
                <a:solidFill>
                  <a:srgbClr val="1C4980"/>
                </a:solidFill>
                <a:latin typeface="Aptos"/>
              </a:rPr>
              <a:t>It runs on a clinic laptop, and reaches the patient through an ASHA</a:t>
            </a:r>
          </a:p>
        </p:txBody>
      </p:sp>
      <p:sp>
        <p:nvSpPr>
          <p:cNvPr id="3" name="TextBox 2"/>
          <p:cNvSpPr txBox="1"/>
          <p:nvPr/>
        </p:nvSpPr>
        <p:spPr>
          <a:xfrm>
            <a:off x="182880" y="475488"/>
            <a:ext cx="8503920" cy="237744"/>
          </a:xfrm>
          <a:prstGeom prst="rect">
            <a:avLst/>
          </a:prstGeom>
          <a:noFill/>
        </p:spPr>
        <p:txBody>
          <a:bodyPr wrap="square" lIns="36576" rIns="36576" tIns="18288" bIns="18288">
            <a:spAutoFit/>
          </a:bodyPr>
          <a:lstStyle/>
          <a:p>
            <a:pPr algn="l">
              <a:spcAft>
                <a:spcPts val="200"/>
              </a:spcAft>
            </a:pPr>
            <a:r>
              <a:rPr sz="900" b="0">
                <a:solidFill>
                  <a:srgbClr val="7F7F7F"/>
                </a:solidFill>
                <a:latin typeface="Aptos"/>
              </a:rPr>
              <a:t>Where this goes next, and what it would take</a:t>
            </a:r>
          </a:p>
        </p:txBody>
      </p:sp>
      <p:sp>
        <p:nvSpPr>
          <p:cNvPr id="4" name="Rectangle 3"/>
          <p:cNvSpPr/>
          <p:nvPr/>
        </p:nvSpPr>
        <p:spPr>
          <a:xfrm>
            <a:off x="0" y="4727448"/>
            <a:ext cx="9144000" cy="9525"/>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Problem</a:t>
            </a:r>
          </a:p>
        </p:txBody>
      </p:sp>
      <p:sp>
        <p:nvSpPr>
          <p:cNvPr id="6" name="TextBox 5"/>
          <p:cNvSpPr txBox="1"/>
          <p:nvPr/>
        </p:nvSpPr>
        <p:spPr>
          <a:xfrm>
            <a:off x="1344168"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Solution</a:t>
            </a:r>
          </a:p>
        </p:txBody>
      </p:sp>
      <p:sp>
        <p:nvSpPr>
          <p:cNvPr id="7" name="TextBox 6"/>
          <p:cNvSpPr txBox="1"/>
          <p:nvPr/>
        </p:nvSpPr>
        <p:spPr>
          <a:xfrm>
            <a:off x="2551176"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Results</a:t>
            </a:r>
          </a:p>
        </p:txBody>
      </p:sp>
      <p:sp>
        <p:nvSpPr>
          <p:cNvPr id="8" name="TextBox 7"/>
          <p:cNvSpPr txBox="1"/>
          <p:nvPr/>
        </p:nvSpPr>
        <p:spPr>
          <a:xfrm>
            <a:off x="3758184" y="4773168"/>
            <a:ext cx="1188720" cy="201168"/>
          </a:xfrm>
          <a:prstGeom prst="rect">
            <a:avLst/>
          </a:prstGeom>
          <a:noFill/>
        </p:spPr>
        <p:txBody>
          <a:bodyPr wrap="square" lIns="36576" rIns="36576" tIns="18288" bIns="18288">
            <a:spAutoFit/>
          </a:bodyPr>
          <a:lstStyle/>
          <a:p>
            <a:pPr algn="l">
              <a:spcAft>
                <a:spcPts val="200"/>
              </a:spcAft>
            </a:pPr>
            <a:r>
              <a:rPr sz="700" b="0">
                <a:solidFill>
                  <a:srgbClr val="BFBFBF"/>
                </a:solidFill>
                <a:latin typeface="Aptos"/>
              </a:rPr>
              <a:t>Evidence</a:t>
            </a:r>
          </a:p>
        </p:txBody>
      </p:sp>
      <p:sp>
        <p:nvSpPr>
          <p:cNvPr id="9" name="TextBox 8"/>
          <p:cNvSpPr txBox="1"/>
          <p:nvPr/>
        </p:nvSpPr>
        <p:spPr>
          <a:xfrm>
            <a:off x="4965192" y="4773168"/>
            <a:ext cx="1188720" cy="201168"/>
          </a:xfrm>
          <a:prstGeom prst="rect">
            <a:avLst/>
          </a:prstGeom>
          <a:noFill/>
        </p:spPr>
        <p:txBody>
          <a:bodyPr wrap="square" lIns="36576" rIns="36576" tIns="18288" bIns="18288">
            <a:spAutoFit/>
          </a:bodyPr>
          <a:lstStyle/>
          <a:p>
            <a:pPr algn="l">
              <a:spcAft>
                <a:spcPts val="200"/>
              </a:spcAft>
            </a:pPr>
            <a:r>
              <a:rPr sz="700" b="1">
                <a:solidFill>
                  <a:srgbClr val="1C4980"/>
                </a:solidFill>
                <a:latin typeface="Aptos"/>
              </a:rPr>
              <a:t>Deployment</a:t>
            </a:r>
          </a:p>
        </p:txBody>
      </p:sp>
      <p:sp>
        <p:nvSpPr>
          <p:cNvPr id="10" name="Rectangle 9"/>
          <p:cNvSpPr/>
          <p:nvPr/>
        </p:nvSpPr>
        <p:spPr>
          <a:xfrm>
            <a:off x="4965192" y="4727448"/>
            <a:ext cx="1097280" cy="1905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4773168"/>
            <a:ext cx="502920" cy="201168"/>
          </a:xfrm>
          <a:prstGeom prst="rect">
            <a:avLst/>
          </a:prstGeom>
          <a:noFill/>
        </p:spPr>
        <p:txBody>
          <a:bodyPr wrap="square" lIns="36576" rIns="36576" tIns="18288" bIns="18288">
            <a:spAutoFit/>
          </a:bodyPr>
          <a:lstStyle/>
          <a:p>
            <a:pPr algn="r">
              <a:spcAft>
                <a:spcPts val="200"/>
              </a:spcAft>
            </a:pPr>
            <a:r>
              <a:rPr sz="700" b="0">
                <a:solidFill>
                  <a:srgbClr val="7F7F7F"/>
                </a:solidFill>
                <a:latin typeface="Aptos"/>
              </a:rPr>
              <a:t>12</a:t>
            </a:r>
          </a:p>
        </p:txBody>
      </p:sp>
      <p:sp>
        <p:nvSpPr>
          <p:cNvPr id="12" name="Rectangle 11"/>
          <p:cNvSpPr/>
          <p:nvPr/>
        </p:nvSpPr>
        <p:spPr>
          <a:xfrm>
            <a:off x="182880" y="841248"/>
            <a:ext cx="2057400"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 y="905256"/>
            <a:ext cx="194767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1.  Two weeks before</a:t>
            </a:r>
          </a:p>
        </p:txBody>
      </p:sp>
      <p:sp>
        <p:nvSpPr>
          <p:cNvPr id="14" name="TextBox 13"/>
          <p:cNvSpPr txBox="1"/>
          <p:nvPr/>
        </p:nvSpPr>
        <p:spPr>
          <a:xfrm>
            <a:off x="237744" y="1143000"/>
            <a:ext cx="1947672" cy="932688"/>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The ASHA app receives a ranked recall list for every faster in the ward, with language, ward and an action script.</a:t>
            </a:r>
          </a:p>
        </p:txBody>
      </p:sp>
      <p:sp>
        <p:nvSpPr>
          <p:cNvPr id="15" name="TextBox 14"/>
          <p:cNvSpPr txBox="1"/>
          <p:nvPr/>
        </p:nvSpPr>
        <p:spPr>
          <a:xfrm>
            <a:off x="2258568" y="1389888"/>
            <a:ext cx="146304"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16" name="Rectangle 15"/>
          <p:cNvSpPr/>
          <p:nvPr/>
        </p:nvSpPr>
        <p:spPr>
          <a:xfrm>
            <a:off x="2395728" y="841248"/>
            <a:ext cx="2057400"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0592" y="905256"/>
            <a:ext cx="194767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2.  Home visit or call</a:t>
            </a:r>
          </a:p>
        </p:txBody>
      </p:sp>
      <p:sp>
        <p:nvSpPr>
          <p:cNvPr id="18" name="TextBox 17"/>
          <p:cNvSpPr txBox="1"/>
          <p:nvPr/>
        </p:nvSpPr>
        <p:spPr>
          <a:xfrm>
            <a:off x="2450592" y="1143000"/>
            <a:ext cx="1947672" cy="932688"/>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The highest-risk patients are nudged to see a doctor before the fast, not after an ambulance call.</a:t>
            </a:r>
          </a:p>
        </p:txBody>
      </p:sp>
      <p:sp>
        <p:nvSpPr>
          <p:cNvPr id="19" name="TextBox 18"/>
          <p:cNvSpPr txBox="1"/>
          <p:nvPr/>
        </p:nvSpPr>
        <p:spPr>
          <a:xfrm>
            <a:off x="4471416" y="1389888"/>
            <a:ext cx="146304"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20" name="Rectangle 19"/>
          <p:cNvSpPr/>
          <p:nvPr/>
        </p:nvSpPr>
        <p:spPr>
          <a:xfrm>
            <a:off x="4608576" y="841248"/>
            <a:ext cx="2057400"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905256"/>
            <a:ext cx="194767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3.  Teleconsult</a:t>
            </a:r>
          </a:p>
        </p:txBody>
      </p:sp>
      <p:sp>
        <p:nvSpPr>
          <p:cNvPr id="22" name="TextBox 21"/>
          <p:cNvSpPr txBox="1"/>
          <p:nvPr/>
        </p:nvSpPr>
        <p:spPr>
          <a:xfrm>
            <a:off x="4663440" y="1143000"/>
            <a:ext cx="1947672" cy="932688"/>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The doctor runs a Vrat Rehearsal in clinic or over eSanjeevani and picks a drug plan.</a:t>
            </a:r>
          </a:p>
        </p:txBody>
      </p:sp>
      <p:sp>
        <p:nvSpPr>
          <p:cNvPr id="23" name="TextBox 22"/>
          <p:cNvSpPr txBox="1"/>
          <p:nvPr/>
        </p:nvSpPr>
        <p:spPr>
          <a:xfrm>
            <a:off x="6684264" y="1389888"/>
            <a:ext cx="146304" cy="274320"/>
          </a:xfrm>
          <a:prstGeom prst="rect">
            <a:avLst/>
          </a:prstGeom>
          <a:noFill/>
        </p:spPr>
        <p:txBody>
          <a:bodyPr wrap="square" lIns="36576" rIns="36576" tIns="18288" bIns="18288">
            <a:spAutoFit/>
          </a:bodyPr>
          <a:lstStyle/>
          <a:p>
            <a:pPr algn="l">
              <a:spcAft>
                <a:spcPts val="200"/>
              </a:spcAft>
            </a:pPr>
            <a:r>
              <a:rPr sz="900" b="0">
                <a:solidFill>
                  <a:srgbClr val="8FADD0"/>
                </a:solidFill>
                <a:latin typeface="Aptos"/>
              </a:rPr>
              <a:t>▶</a:t>
            </a:r>
          </a:p>
        </p:txBody>
      </p:sp>
      <p:sp>
        <p:nvSpPr>
          <p:cNvPr id="24" name="Rectangle 23"/>
          <p:cNvSpPr/>
          <p:nvPr/>
        </p:nvSpPr>
        <p:spPr>
          <a:xfrm>
            <a:off x="6821424" y="841248"/>
            <a:ext cx="2057400" cy="1298448"/>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76288" y="905256"/>
            <a:ext cx="194767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4.  During the fast</a:t>
            </a:r>
          </a:p>
        </p:txBody>
      </p:sp>
      <p:sp>
        <p:nvSpPr>
          <p:cNvPr id="26" name="TextBox 25"/>
          <p:cNvSpPr txBox="1"/>
          <p:nvPr/>
        </p:nvSpPr>
        <p:spPr>
          <a:xfrm>
            <a:off x="6876288" y="1143000"/>
            <a:ext cx="1947672" cy="932688"/>
          </a:xfrm>
          <a:prstGeom prst="rect">
            <a:avLst/>
          </a:prstGeom>
          <a:noFill/>
        </p:spPr>
        <p:txBody>
          <a:bodyPr wrap="square" lIns="36576" rIns="36576" tIns="18288" bIns="18288">
            <a:spAutoFit/>
          </a:bodyPr>
          <a:lstStyle/>
          <a:p>
            <a:pPr algn="l">
              <a:spcAft>
                <a:spcPts val="300"/>
              </a:spcAft>
            </a:pPr>
            <a:r>
              <a:rPr sz="750" b="0">
                <a:solidFill>
                  <a:srgbClr val="262626"/>
                </a:solidFill>
                <a:latin typeface="Aptos"/>
              </a:rPr>
              <a:t>The patient has a dose-timing plan in their own language. The twin keeps scoring risk every 30 minutes.</a:t>
            </a:r>
          </a:p>
        </p:txBody>
      </p:sp>
      <p:sp>
        <p:nvSpPr>
          <p:cNvPr id="27" name="Rectangle 26"/>
          <p:cNvSpPr/>
          <p:nvPr/>
        </p:nvSpPr>
        <p:spPr>
          <a:xfrm>
            <a:off x="182880" y="2304288"/>
            <a:ext cx="4297680" cy="1234440"/>
          </a:xfrm>
          <a:prstGeom prst="rect">
            <a:avLst/>
          </a:prstGeom>
          <a:solidFill>
            <a:srgbClr val="EA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744" y="2368296"/>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Where it would run</a:t>
            </a:r>
          </a:p>
        </p:txBody>
      </p:sp>
      <p:sp>
        <p:nvSpPr>
          <p:cNvPr id="29" name="TextBox 28"/>
          <p:cNvSpPr txBox="1"/>
          <p:nvPr/>
        </p:nvSpPr>
        <p:spPr>
          <a:xfrm>
            <a:off x="237744" y="2606040"/>
            <a:ext cx="4187952" cy="86868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NP-NCD screening at Ayushman Arogya Mandirs, which carry about 25 million people on diabetes treatment under the 75 by 25 initiative.</a:t>
            </a:r>
          </a:p>
          <a:p>
            <a:pPr algn="l">
              <a:spcAft>
                <a:spcPts val="300"/>
              </a:spcAft>
            </a:pPr>
            <a:r>
              <a:rPr sz="800" b="0">
                <a:solidFill>
                  <a:srgbClr val="262626"/>
                </a:solidFill>
                <a:latin typeface="Aptos"/>
              </a:rPr>
              <a:t>Private diabetology clinics and CGM programmes.</a:t>
            </a:r>
          </a:p>
          <a:p>
            <a:pPr algn="l">
              <a:spcAft>
                <a:spcPts val="300"/>
              </a:spcAft>
            </a:pPr>
            <a:r>
              <a:rPr sz="800" b="0">
                <a:solidFill>
                  <a:srgbClr val="262626"/>
                </a:solidFill>
                <a:latin typeface="Aptos"/>
              </a:rPr>
              <a:t>One clinic server can cover a district. Tiers B and C need no CGM.</a:t>
            </a:r>
          </a:p>
        </p:txBody>
      </p:sp>
      <p:sp>
        <p:nvSpPr>
          <p:cNvPr id="30" name="Rectangle 29"/>
          <p:cNvSpPr/>
          <p:nvPr/>
        </p:nvSpPr>
        <p:spPr>
          <a:xfrm>
            <a:off x="4663440" y="2304288"/>
            <a:ext cx="4297680"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18303" y="2368296"/>
            <a:ext cx="4187952" cy="201168"/>
          </a:xfrm>
          <a:prstGeom prst="rect">
            <a:avLst/>
          </a:prstGeom>
          <a:noFill/>
        </p:spPr>
        <p:txBody>
          <a:bodyPr wrap="square" lIns="36576" rIns="36576" tIns="18288" bIns="18288">
            <a:spAutoFit/>
          </a:bodyPr>
          <a:lstStyle/>
          <a:p>
            <a:pPr algn="l">
              <a:spcAft>
                <a:spcPts val="200"/>
              </a:spcAft>
            </a:pPr>
            <a:r>
              <a:rPr sz="900" b="1">
                <a:solidFill>
                  <a:srgbClr val="1C4980"/>
                </a:solidFill>
                <a:latin typeface="Aptos"/>
              </a:rPr>
              <a:t>How we would prove it</a:t>
            </a:r>
          </a:p>
        </p:txBody>
      </p:sp>
      <p:sp>
        <p:nvSpPr>
          <p:cNvPr id="32" name="TextBox 31"/>
          <p:cNvSpPr txBox="1"/>
          <p:nvPr/>
        </p:nvSpPr>
        <p:spPr>
          <a:xfrm>
            <a:off x="4718303" y="2606040"/>
            <a:ext cx="4187952" cy="868680"/>
          </a:xfrm>
          <a:prstGeom prst="rect">
            <a:avLst/>
          </a:prstGeom>
          <a:noFill/>
        </p:spPr>
        <p:txBody>
          <a:bodyPr wrap="square" lIns="36576" rIns="36576" tIns="18288" bIns="18288">
            <a:spAutoFit/>
          </a:bodyPr>
          <a:lstStyle/>
          <a:p>
            <a:pPr algn="l">
              <a:spcAft>
                <a:spcPts val="300"/>
              </a:spcAft>
            </a:pPr>
            <a:r>
              <a:rPr sz="800" b="0">
                <a:solidFill>
                  <a:srgbClr val="262626"/>
                </a:solidFill>
                <a:latin typeface="Aptos"/>
              </a:rPr>
              <a:t>Fit the prior on real physiological reference data, then repeat the external validation.</a:t>
            </a:r>
          </a:p>
          <a:p>
            <a:pPr algn="l">
              <a:spcAft>
                <a:spcPts val="300"/>
              </a:spcAft>
            </a:pPr>
            <a:r>
              <a:rPr sz="800" b="0">
                <a:solidFill>
                  <a:srgbClr val="262626"/>
                </a:solidFill>
                <a:latin typeface="Aptos"/>
              </a:rPr>
              <a:t>IRB-approved observational pilot during Navratri 2027, 100 sulfonylurea-treated fasters on Libre CGMs.</a:t>
            </a:r>
          </a:p>
          <a:p>
            <a:pPr algn="l">
              <a:spcAft>
                <a:spcPts val="300"/>
              </a:spcAft>
            </a:pPr>
            <a:r>
              <a:rPr sz="800" b="0">
                <a:solidFill>
                  <a:srgbClr val="262626"/>
                </a:solidFill>
                <a:latin typeface="Aptos"/>
              </a:rPr>
              <a:t>Cluster-randomised ASHA recall-list trial, outcomes being hypoglycaemia events and ER visits.</a:t>
            </a:r>
          </a:p>
        </p:txBody>
      </p:sp>
      <p:sp>
        <p:nvSpPr>
          <p:cNvPr id="33" name="Rectangle 32"/>
          <p:cNvSpPr/>
          <p:nvPr/>
        </p:nvSpPr>
        <p:spPr>
          <a:xfrm>
            <a:off x="182880" y="3675887"/>
            <a:ext cx="8778240" cy="914400"/>
          </a:xfrm>
          <a:prstGeom prst="rect">
            <a:avLst/>
          </a:prstGeom>
          <a:solidFill>
            <a:srgbClr val="1C4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767328"/>
            <a:ext cx="8503920" cy="237744"/>
          </a:xfrm>
          <a:prstGeom prst="rect">
            <a:avLst/>
          </a:prstGeom>
          <a:noFill/>
        </p:spPr>
        <p:txBody>
          <a:bodyPr wrap="square" lIns="36576" rIns="36576" tIns="18288" bIns="18288">
            <a:spAutoFit/>
          </a:bodyPr>
          <a:lstStyle/>
          <a:p>
            <a:pPr algn="l">
              <a:spcAft>
                <a:spcPts val="200"/>
              </a:spcAft>
            </a:pPr>
            <a:r>
              <a:rPr sz="1300" b="1">
                <a:solidFill>
                  <a:srgbClr val="FFFFFF"/>
                </a:solidFill>
                <a:latin typeface="Aptos"/>
              </a:rPr>
              <a:t>The fast is on the calendar. The hypoglycaemia does not have to be a surprise.</a:t>
            </a:r>
          </a:p>
        </p:txBody>
      </p:sp>
      <p:sp>
        <p:nvSpPr>
          <p:cNvPr id="35" name="TextBox 34"/>
          <p:cNvSpPr txBox="1"/>
          <p:nvPr/>
        </p:nvSpPr>
        <p:spPr>
          <a:xfrm>
            <a:off x="310896" y="4096512"/>
            <a:ext cx="8503920" cy="411480"/>
          </a:xfrm>
          <a:prstGeom prst="rect">
            <a:avLst/>
          </a:prstGeom>
          <a:noFill/>
        </p:spPr>
        <p:txBody>
          <a:bodyPr wrap="square" lIns="36576" rIns="36576" tIns="18288" bIns="18288">
            <a:spAutoFit/>
          </a:bodyPr>
          <a:lstStyle/>
          <a:p>
            <a:pPr algn="l">
              <a:spcAft>
                <a:spcPts val="200"/>
              </a:spcAft>
            </a:pPr>
            <a:r>
              <a:rPr sz="800" b="0">
                <a:solidFill>
                  <a:srgbClr val="8FADD0"/>
                </a:solidFill>
                <a:latin typeface="Aptos"/>
              </a:rPr>
              <a:t>Research prototype on synthetic data. Not a medical device. It informs a registered medical practitioner and decides nothing.</a:t>
            </a:r>
          </a:p>
          <a:p>
            <a:pPr algn="l">
              <a:spcAft>
                <a:spcPts val="200"/>
              </a:spcAft>
            </a:pPr>
            <a:r>
              <a:rPr sz="800" b="0">
                <a:solidFill>
                  <a:srgbClr val="8FADD0"/>
                </a:solidFill>
                <a:latin typeface="Aptos"/>
              </a:rPr>
              <a:t>MIT licence. Every number in this deck regenerates from reports/metrics.json.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